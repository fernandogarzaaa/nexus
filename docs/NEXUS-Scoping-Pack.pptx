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5F7F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3D"/>
        </a:solidFill>
      </p:bgPr>
    </p:bg>
    <p:spTree>
      <p:nvGrpSpPr>
        <p:cNvPr id="1" name=""/>
        <p:cNvGrpSpPr/>
        <p:nvPr/>
      </p:nvGrpSpPr>
      <p:grpSpPr>
        <a:xfrm>
          <a:off x="0" y="0"/>
          <a:ext cx="0" cy="0"/>
          <a:chOff x="0" y="0"/>
          <a:chExt cx="0" cy="0"/>
        </a:xfrm>
      </p:grpSpPr>
      <p:sp>
        <p:nvSpPr>
          <p:cNvPr id="2" name="Shape 0"/>
          <p:cNvSpPr/>
          <p:nvPr/>
        </p:nvSpPr>
        <p:spPr>
          <a:xfrm>
            <a:off x="8778240" y="-2194560"/>
            <a:ext cx="6400800" cy="6400800"/>
          </a:xfrm>
          <a:prstGeom prst="ellipse">
            <a:avLst/>
          </a:prstGeom>
          <a:solidFill>
            <a:srgbClr val="132A52"/>
          </a:solidFill>
          <a:ln/>
        </p:spPr>
      </p:sp>
      <p:sp>
        <p:nvSpPr>
          <p:cNvPr id="3" name="Shape 1"/>
          <p:cNvSpPr/>
          <p:nvPr/>
        </p:nvSpPr>
        <p:spPr>
          <a:xfrm>
            <a:off x="-2286000" y="4206240"/>
            <a:ext cx="5029200" cy="5029200"/>
          </a:xfrm>
          <a:prstGeom prst="ellipse">
            <a:avLst/>
          </a:prstGeom>
          <a:solidFill>
            <a:srgbClr val="132A52"/>
          </a:solidFill>
          <a:ln/>
        </p:spPr>
      </p:sp>
      <p:sp>
        <p:nvSpPr>
          <p:cNvPr id="4" name="Text 2"/>
          <p:cNvSpPr/>
          <p:nvPr/>
        </p:nvSpPr>
        <p:spPr>
          <a:xfrm>
            <a:off x="822960" y="1417320"/>
            <a:ext cx="9144000" cy="320040"/>
          </a:xfrm>
          <a:prstGeom prst="rect">
            <a:avLst/>
          </a:prstGeom>
          <a:noFill/>
          <a:ln/>
        </p:spPr>
        <p:txBody>
          <a:bodyPr wrap="square" lIns="0" tIns="0" rIns="0" bIns="0" rtlCol="0" anchor="ctr"/>
          <a:lstStyle/>
          <a:p>
            <a:pPr indent="0" marL="0">
              <a:buNone/>
            </a:pPr>
            <a:r>
              <a:rPr lang="en-US" sz="1200" b="1" spc="200" kern="0" dirty="0">
                <a:solidFill>
                  <a:srgbClr val="CADCFC"/>
                </a:solidFill>
                <a:latin typeface="Calibri" pitchFamily="34" charset="0"/>
                <a:ea typeface="Calibri" pitchFamily="34" charset="-122"/>
                <a:cs typeface="Calibri" pitchFamily="34" charset="-120"/>
              </a:rPr>
              <a:t>AI AGENT ENGINEER CASE STUDY — PRODUCT &amp; TECHNICAL SCOPING PACK</a:t>
            </a:r>
            <a:endParaRPr lang="en-US" sz="1200" dirty="0"/>
          </a:p>
        </p:txBody>
      </p:sp>
      <p:sp>
        <p:nvSpPr>
          <p:cNvPr id="5" name="Text 3"/>
          <p:cNvSpPr/>
          <p:nvPr/>
        </p:nvSpPr>
        <p:spPr>
          <a:xfrm>
            <a:off x="777240" y="1874520"/>
            <a:ext cx="9144000" cy="1554480"/>
          </a:xfrm>
          <a:prstGeom prst="rect">
            <a:avLst/>
          </a:prstGeom>
          <a:noFill/>
          <a:ln/>
        </p:spPr>
        <p:txBody>
          <a:bodyPr wrap="square" lIns="0" tIns="0" rIns="0" bIns="0" rtlCol="0" anchor="ctr"/>
          <a:lstStyle/>
          <a:p>
            <a:pPr indent="0" marL="0">
              <a:buNone/>
            </a:pPr>
            <a:r>
              <a:rPr lang="en-US" sz="8400" b="1" dirty="0">
                <a:solidFill>
                  <a:srgbClr val="FFFFFF"/>
                </a:solidFill>
                <a:latin typeface="Cambria" pitchFamily="34" charset="0"/>
                <a:ea typeface="Cambria" pitchFamily="34" charset="-122"/>
                <a:cs typeface="Cambria" pitchFamily="34" charset="-120"/>
              </a:rPr>
              <a:t>NEXUS</a:t>
            </a:r>
            <a:endParaRPr lang="en-US" sz="8400" dirty="0"/>
          </a:p>
        </p:txBody>
      </p:sp>
      <p:sp>
        <p:nvSpPr>
          <p:cNvPr id="6" name="Text 4"/>
          <p:cNvSpPr/>
          <p:nvPr/>
        </p:nvSpPr>
        <p:spPr>
          <a:xfrm>
            <a:off x="822960" y="3310128"/>
            <a:ext cx="9601200" cy="50292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AI-first agentic logistics operations layer</a:t>
            </a:r>
            <a:endParaRPr lang="en-US" sz="2000" dirty="0"/>
          </a:p>
        </p:txBody>
      </p:sp>
      <p:sp>
        <p:nvSpPr>
          <p:cNvPr id="7" name="Text 5"/>
          <p:cNvSpPr/>
          <p:nvPr/>
        </p:nvSpPr>
        <p:spPr>
          <a:xfrm>
            <a:off x="822960" y="3977640"/>
            <a:ext cx="10332720" cy="457200"/>
          </a:xfrm>
          <a:prstGeom prst="rect">
            <a:avLst/>
          </a:prstGeom>
          <a:noFill/>
          <a:ln/>
        </p:spPr>
        <p:txBody>
          <a:bodyPr wrap="square" lIns="0" tIns="0" rIns="0" bIns="0" rtlCol="0" anchor="ctr"/>
          <a:lstStyle/>
          <a:p>
            <a:pPr indent="0" marL="0">
              <a:buNone/>
            </a:pPr>
            <a:r>
              <a:rPr lang="en-US" sz="1400" i="1" dirty="0">
                <a:solidFill>
                  <a:srgbClr val="8FA8D6"/>
                </a:solidFill>
                <a:latin typeface="Calibri" pitchFamily="34" charset="0"/>
                <a:ea typeface="Calibri" pitchFamily="34" charset="-122"/>
                <a:cs typeface="Calibri" pitchFamily="34" charset="-120"/>
              </a:rPr>
              <a:t>Observe  →  Understand  →  Decide  →  Act  →  Verify  →  Update  →  Escalate</a:t>
            </a:r>
            <a:endParaRPr lang="en-US" sz="1400" dirty="0"/>
          </a:p>
        </p:txBody>
      </p:sp>
      <p:sp>
        <p:nvSpPr>
          <p:cNvPr id="8" name="Shape 6"/>
          <p:cNvSpPr/>
          <p:nvPr/>
        </p:nvSpPr>
        <p:spPr>
          <a:xfrm>
            <a:off x="822960" y="4892040"/>
            <a:ext cx="2761488" cy="457200"/>
          </a:xfrm>
          <a:prstGeom prst="roundRect">
            <a:avLst>
              <a:gd name="adj" fmla="val 50000"/>
            </a:avLst>
          </a:prstGeom>
          <a:solidFill>
            <a:srgbClr val="132A52"/>
          </a:solidFill>
          <a:ln w="12700">
            <a:solidFill>
              <a:srgbClr val="2A4270"/>
            </a:solidFill>
            <a:prstDash val="solid"/>
          </a:ln>
        </p:spPr>
      </p:sp>
      <p:sp>
        <p:nvSpPr>
          <p:cNvPr id="9" name="Text 7"/>
          <p:cNvSpPr/>
          <p:nvPr/>
        </p:nvSpPr>
        <p:spPr>
          <a:xfrm>
            <a:off x="822960" y="4892040"/>
            <a:ext cx="2761488" cy="457200"/>
          </a:xfrm>
          <a:prstGeom prst="rect">
            <a:avLst/>
          </a:prstGeom>
          <a:noFill/>
          <a:ln/>
        </p:spPr>
        <p:txBody>
          <a:bodyPr wrap="square" lIns="0" tIns="0" rIns="0" bIns="0" rtlCol="0" anchor="ctr"/>
          <a:lstStyle/>
          <a:p>
            <a:pPr algn="ctr" indent="0" marL="0">
              <a:buNone/>
            </a:pPr>
            <a:r>
              <a:rPr lang="en-US" sz="1150" b="1" dirty="0">
                <a:solidFill>
                  <a:srgbClr val="CADCFC"/>
                </a:solidFill>
                <a:latin typeface="Calibri" pitchFamily="34" charset="0"/>
                <a:ea typeface="Calibri" pitchFamily="34" charset="-122"/>
                <a:cs typeface="Calibri" pitchFamily="34" charset="-120"/>
              </a:rPr>
              <a:t>Exception Recovery Agent</a:t>
            </a:r>
            <a:endParaRPr lang="en-US" sz="1150" dirty="0"/>
          </a:p>
        </p:txBody>
      </p:sp>
      <p:sp>
        <p:nvSpPr>
          <p:cNvPr id="10" name="Shape 8"/>
          <p:cNvSpPr/>
          <p:nvPr/>
        </p:nvSpPr>
        <p:spPr>
          <a:xfrm>
            <a:off x="3785616" y="4892040"/>
            <a:ext cx="2578608" cy="457200"/>
          </a:xfrm>
          <a:prstGeom prst="roundRect">
            <a:avLst>
              <a:gd name="adj" fmla="val 50000"/>
            </a:avLst>
          </a:prstGeom>
          <a:solidFill>
            <a:srgbClr val="132A52"/>
          </a:solidFill>
          <a:ln w="12700">
            <a:solidFill>
              <a:srgbClr val="2A4270"/>
            </a:solidFill>
            <a:prstDash val="solid"/>
          </a:ln>
        </p:spPr>
      </p:sp>
      <p:sp>
        <p:nvSpPr>
          <p:cNvPr id="11" name="Text 9"/>
          <p:cNvSpPr/>
          <p:nvPr/>
        </p:nvSpPr>
        <p:spPr>
          <a:xfrm>
            <a:off x="3785616" y="4892040"/>
            <a:ext cx="2578608" cy="457200"/>
          </a:xfrm>
          <a:prstGeom prst="rect">
            <a:avLst/>
          </a:prstGeom>
          <a:noFill/>
          <a:ln/>
        </p:spPr>
        <p:txBody>
          <a:bodyPr wrap="square" lIns="0" tIns="0" rIns="0" bIns="0" rtlCol="0" anchor="ctr"/>
          <a:lstStyle/>
          <a:p>
            <a:pPr algn="ctr" indent="0" marL="0">
              <a:buNone/>
            </a:pPr>
            <a:r>
              <a:rPr lang="en-US" sz="1150" b="1" dirty="0">
                <a:solidFill>
                  <a:srgbClr val="CADCFC"/>
                </a:solidFill>
                <a:latin typeface="Calibri" pitchFamily="34" charset="0"/>
                <a:ea typeface="Calibri" pitchFamily="34" charset="-122"/>
                <a:cs typeface="Calibri" pitchFamily="34" charset="-120"/>
              </a:rPr>
              <a:t>Dynamic Dispatch Agent</a:t>
            </a:r>
            <a:endParaRPr lang="en-US" sz="1150" dirty="0"/>
          </a:p>
        </p:txBody>
      </p:sp>
      <p:sp>
        <p:nvSpPr>
          <p:cNvPr id="12" name="Shape 10"/>
          <p:cNvSpPr/>
          <p:nvPr/>
        </p:nvSpPr>
        <p:spPr>
          <a:xfrm>
            <a:off x="6565392" y="4892040"/>
            <a:ext cx="3675888" cy="457200"/>
          </a:xfrm>
          <a:prstGeom prst="roundRect">
            <a:avLst>
              <a:gd name="adj" fmla="val 50000"/>
            </a:avLst>
          </a:prstGeom>
          <a:solidFill>
            <a:srgbClr val="132A52"/>
          </a:solidFill>
          <a:ln w="12700">
            <a:solidFill>
              <a:srgbClr val="2A4270"/>
            </a:solidFill>
            <a:prstDash val="solid"/>
          </a:ln>
        </p:spPr>
      </p:sp>
      <p:sp>
        <p:nvSpPr>
          <p:cNvPr id="13" name="Text 11"/>
          <p:cNvSpPr/>
          <p:nvPr/>
        </p:nvSpPr>
        <p:spPr>
          <a:xfrm>
            <a:off x="6565392" y="4892040"/>
            <a:ext cx="3675888" cy="457200"/>
          </a:xfrm>
          <a:prstGeom prst="rect">
            <a:avLst/>
          </a:prstGeom>
          <a:noFill/>
          <a:ln/>
        </p:spPr>
        <p:txBody>
          <a:bodyPr wrap="square" lIns="0" tIns="0" rIns="0" bIns="0" rtlCol="0" anchor="ctr"/>
          <a:lstStyle/>
          <a:p>
            <a:pPr algn="ctr" indent="0" marL="0">
              <a:buNone/>
            </a:pPr>
            <a:r>
              <a:rPr lang="en-US" sz="1150" b="1" dirty="0">
                <a:solidFill>
                  <a:srgbClr val="CADCFC"/>
                </a:solidFill>
                <a:latin typeface="Calibri" pitchFamily="34" charset="0"/>
                <a:ea typeface="Calibri" pitchFamily="34" charset="-122"/>
                <a:cs typeface="Calibri" pitchFamily="34" charset="-120"/>
              </a:rPr>
              <a:t>Communication &amp; Coordination Agent</a:t>
            </a:r>
            <a:endParaRPr lang="en-US" sz="1150" dirty="0"/>
          </a:p>
        </p:txBody>
      </p:sp>
      <p:sp>
        <p:nvSpPr>
          <p:cNvPr id="14" name="Text 12"/>
          <p:cNvSpPr/>
          <p:nvPr/>
        </p:nvSpPr>
        <p:spPr>
          <a:xfrm>
            <a:off x="822960" y="6263640"/>
            <a:ext cx="9144000" cy="320040"/>
          </a:xfrm>
          <a:prstGeom prst="rect">
            <a:avLst/>
          </a:prstGeom>
          <a:noFill/>
          <a:ln/>
        </p:spPr>
        <p:txBody>
          <a:bodyPr wrap="square" lIns="0" tIns="0" rIns="0" bIns="0" rtlCol="0" anchor="ctr"/>
          <a:lstStyle/>
          <a:p>
            <a:pPr indent="0" marL="0">
              <a:buNone/>
            </a:pPr>
            <a:r>
              <a:rPr lang="en-US" sz="1100" dirty="0">
                <a:solidFill>
                  <a:srgbClr val="6E86B8"/>
                </a:solidFill>
                <a:latin typeface="Calibri" pitchFamily="34" charset="0"/>
                <a:ea typeface="Calibri" pitchFamily="34" charset="-122"/>
                <a:cs typeface="Calibri" pitchFamily="34" charset="-120"/>
              </a:rPr>
              <a:t>Prepared for the technical interview panel  ·  github repository attached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EXECUTIVE SUMMARY</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A working proof-of-concept, not a pitch</a:t>
            </a:r>
            <a:endParaRPr lang="en-US" sz="3000" dirty="0"/>
          </a:p>
        </p:txBody>
      </p:sp>
      <p:sp>
        <p:nvSpPr>
          <p:cNvPr id="4" name="Text 2"/>
          <p:cNvSpPr/>
          <p:nvPr/>
        </p:nvSpPr>
        <p:spPr>
          <a:xfrm>
            <a:off x="548640" y="1207008"/>
            <a:ext cx="10607040" cy="457200"/>
          </a:xfrm>
          <a:prstGeom prst="rect">
            <a:avLst/>
          </a:prstGeom>
          <a:noFill/>
          <a:ln/>
        </p:spPr>
        <p:txBody>
          <a:bodyPr wrap="square" lIns="0" tIns="0" rIns="0" bIns="0" rtlCol="0" anchor="ctr"/>
          <a:lstStyle/>
          <a:p>
            <a:pPr indent="0" marL="0">
              <a:buNone/>
            </a:pPr>
            <a:r>
              <a:rPr lang="en-US" sz="1350" dirty="0">
                <a:solidFill>
                  <a:srgbClr val="5B6472"/>
                </a:solidFill>
                <a:latin typeface="Calibri" pitchFamily="34" charset="0"/>
                <a:ea typeface="Calibri" pitchFamily="34" charset="-122"/>
                <a:cs typeface="Calibri" pitchFamily="34" charset="-120"/>
              </a:rPr>
              <a:t>Every claim on this slide is demonstrated live in the attached repository — this is not a mockup.</a:t>
            </a:r>
            <a:endParaRPr lang="en-US" sz="1350" dirty="0"/>
          </a:p>
        </p:txBody>
      </p:sp>
      <p:sp>
        <p:nvSpPr>
          <p:cNvPr id="5" name="Shape 3"/>
          <p:cNvSpPr/>
          <p:nvPr/>
        </p:nvSpPr>
        <p:spPr>
          <a:xfrm>
            <a:off x="548640" y="1874520"/>
            <a:ext cx="5486400" cy="1417320"/>
          </a:xfrm>
          <a:prstGeom prst="roundRect">
            <a:avLst>
              <a:gd name="adj" fmla="val 580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6" name="Text 4"/>
          <p:cNvSpPr/>
          <p:nvPr/>
        </p:nvSpPr>
        <p:spPr>
          <a:xfrm>
            <a:off x="822960" y="2039112"/>
            <a:ext cx="4937760" cy="365760"/>
          </a:xfrm>
          <a:prstGeom prst="rect">
            <a:avLst/>
          </a:prstGeom>
          <a:noFill/>
          <a:ln/>
        </p:spPr>
        <p:txBody>
          <a:bodyPr wrap="square" lIns="0" tIns="0" rIns="0" bIns="0" rtlCol="0" anchor="ctr"/>
          <a:lstStyle/>
          <a:p>
            <a:pPr indent="0" marL="0">
              <a:buNone/>
            </a:pPr>
            <a:r>
              <a:rPr lang="en-US" sz="1500" b="1" dirty="0">
                <a:solidFill>
                  <a:srgbClr val="0B1E3D"/>
                </a:solidFill>
                <a:latin typeface="Cambria" pitchFamily="34" charset="0"/>
                <a:ea typeface="Cambria" pitchFamily="34" charset="-122"/>
                <a:cs typeface="Cambria" pitchFamily="34" charset="-120"/>
              </a:rPr>
              <a:t>The problem</a:t>
            </a:r>
            <a:endParaRPr lang="en-US" sz="1500" dirty="0"/>
          </a:p>
        </p:txBody>
      </p:sp>
      <p:sp>
        <p:nvSpPr>
          <p:cNvPr id="7" name="Text 5"/>
          <p:cNvSpPr/>
          <p:nvPr/>
        </p:nvSpPr>
        <p:spPr>
          <a:xfrm>
            <a:off x="822960" y="2423160"/>
            <a:ext cx="4937760" cy="777240"/>
          </a:xfrm>
          <a:prstGeom prst="rect">
            <a:avLst/>
          </a:prstGeom>
          <a:noFill/>
          <a:ln/>
        </p:spPr>
        <p:txBody>
          <a:bodyPr wrap="square" lIns="0" tIns="0" rIns="0" bIns="0" rtlCol="0" anchor="ctr"/>
          <a:lstStyle/>
          <a:p>
            <a:pPr indent="0" marL="0">
              <a:lnSpc>
                <a:spcPct val="115000"/>
              </a:lnSpc>
              <a:buNone/>
            </a:pPr>
            <a:r>
              <a:rPr lang="en-US" sz="1200" dirty="0">
                <a:solidFill>
                  <a:srgbClr val="5B6472"/>
                </a:solidFill>
                <a:latin typeface="Calibri" pitchFamily="34" charset="0"/>
                <a:ea typeface="Calibri" pitchFamily="34" charset="-122"/>
                <a:cs typeface="Calibri" pitchFamily="34" charset="-120"/>
              </a:rPr>
              <a:t>Visibility tools tell operators a shipment is late. None of them act on it — every exception is still a manual scramble.</a:t>
            </a:r>
            <a:endParaRPr lang="en-US" sz="1200" dirty="0"/>
          </a:p>
        </p:txBody>
      </p:sp>
      <p:sp>
        <p:nvSpPr>
          <p:cNvPr id="8" name="Shape 6"/>
          <p:cNvSpPr/>
          <p:nvPr/>
        </p:nvSpPr>
        <p:spPr>
          <a:xfrm>
            <a:off x="548640" y="3474720"/>
            <a:ext cx="5486400" cy="1417320"/>
          </a:xfrm>
          <a:prstGeom prst="roundRect">
            <a:avLst>
              <a:gd name="adj" fmla="val 580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9" name="Text 7"/>
          <p:cNvSpPr/>
          <p:nvPr/>
        </p:nvSpPr>
        <p:spPr>
          <a:xfrm>
            <a:off x="822960" y="3639312"/>
            <a:ext cx="4937760" cy="365760"/>
          </a:xfrm>
          <a:prstGeom prst="rect">
            <a:avLst/>
          </a:prstGeom>
          <a:noFill/>
          <a:ln/>
        </p:spPr>
        <p:txBody>
          <a:bodyPr wrap="square" lIns="0" tIns="0" rIns="0" bIns="0" rtlCol="0" anchor="ctr"/>
          <a:lstStyle/>
          <a:p>
            <a:pPr indent="0" marL="0">
              <a:buNone/>
            </a:pPr>
            <a:r>
              <a:rPr lang="en-US" sz="1500" b="1" dirty="0">
                <a:solidFill>
                  <a:srgbClr val="0B1E3D"/>
                </a:solidFill>
                <a:latin typeface="Cambria" pitchFamily="34" charset="0"/>
                <a:ea typeface="Cambria" pitchFamily="34" charset="-122"/>
                <a:cs typeface="Cambria" pitchFamily="34" charset="-120"/>
              </a:rPr>
              <a:t>The thesis</a:t>
            </a:r>
            <a:endParaRPr lang="en-US" sz="1500" dirty="0"/>
          </a:p>
        </p:txBody>
      </p:sp>
      <p:sp>
        <p:nvSpPr>
          <p:cNvPr id="10" name="Text 8"/>
          <p:cNvSpPr/>
          <p:nvPr/>
        </p:nvSpPr>
        <p:spPr>
          <a:xfrm>
            <a:off x="822960" y="4023360"/>
            <a:ext cx="4937760" cy="777240"/>
          </a:xfrm>
          <a:prstGeom prst="rect">
            <a:avLst/>
          </a:prstGeom>
          <a:noFill/>
          <a:ln/>
        </p:spPr>
        <p:txBody>
          <a:bodyPr wrap="square" lIns="0" tIns="0" rIns="0" bIns="0" rtlCol="0" anchor="ctr"/>
          <a:lstStyle/>
          <a:p>
            <a:pPr indent="0" marL="0">
              <a:lnSpc>
                <a:spcPct val="115000"/>
              </a:lnSpc>
              <a:buNone/>
            </a:pPr>
            <a:r>
              <a:rPr lang="en-US" sz="1200" dirty="0">
                <a:solidFill>
                  <a:srgbClr val="5B6472"/>
                </a:solidFill>
                <a:latin typeface="Calibri" pitchFamily="34" charset="0"/>
                <a:ea typeface="Calibri" pitchFamily="34" charset="-122"/>
                <a:cs typeface="Calibri" pitchFamily="34" charset="-120"/>
              </a:rPr>
              <a:t>NEXUS detects, decides, acts, verifies, and escalates — through a governed, auditable tool layer, not a chatbot.</a:t>
            </a:r>
            <a:endParaRPr lang="en-US" sz="1200" dirty="0"/>
          </a:p>
        </p:txBody>
      </p:sp>
      <p:sp>
        <p:nvSpPr>
          <p:cNvPr id="11" name="Shape 9"/>
          <p:cNvSpPr/>
          <p:nvPr/>
        </p:nvSpPr>
        <p:spPr>
          <a:xfrm>
            <a:off x="548640" y="5074920"/>
            <a:ext cx="5486400" cy="1417320"/>
          </a:xfrm>
          <a:prstGeom prst="roundRect">
            <a:avLst>
              <a:gd name="adj" fmla="val 580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2" name="Text 10"/>
          <p:cNvSpPr/>
          <p:nvPr/>
        </p:nvSpPr>
        <p:spPr>
          <a:xfrm>
            <a:off x="822960" y="5239512"/>
            <a:ext cx="4937760" cy="365760"/>
          </a:xfrm>
          <a:prstGeom prst="rect">
            <a:avLst/>
          </a:prstGeom>
          <a:noFill/>
          <a:ln/>
        </p:spPr>
        <p:txBody>
          <a:bodyPr wrap="square" lIns="0" tIns="0" rIns="0" bIns="0" rtlCol="0" anchor="ctr"/>
          <a:lstStyle/>
          <a:p>
            <a:pPr indent="0" marL="0">
              <a:buNone/>
            </a:pPr>
            <a:r>
              <a:rPr lang="en-US" sz="1500" b="1" dirty="0">
                <a:solidFill>
                  <a:srgbClr val="0B1E3D"/>
                </a:solidFill>
                <a:latin typeface="Cambria" pitchFamily="34" charset="0"/>
                <a:ea typeface="Cambria" pitchFamily="34" charset="-122"/>
                <a:cs typeface="Cambria" pitchFamily="34" charset="-120"/>
              </a:rPr>
              <a:t>The proof</a:t>
            </a:r>
            <a:endParaRPr lang="en-US" sz="1500" dirty="0"/>
          </a:p>
        </p:txBody>
      </p:sp>
      <p:sp>
        <p:nvSpPr>
          <p:cNvPr id="13" name="Text 11"/>
          <p:cNvSpPr/>
          <p:nvPr/>
        </p:nvSpPr>
        <p:spPr>
          <a:xfrm>
            <a:off x="822960" y="5623560"/>
            <a:ext cx="4937760" cy="777240"/>
          </a:xfrm>
          <a:prstGeom prst="rect">
            <a:avLst/>
          </a:prstGeom>
          <a:noFill/>
          <a:ln/>
        </p:spPr>
        <p:txBody>
          <a:bodyPr wrap="square" lIns="0" tIns="0" rIns="0" bIns="0" rtlCol="0" anchor="ctr"/>
          <a:lstStyle/>
          <a:p>
            <a:pPr indent="0" marL="0">
              <a:lnSpc>
                <a:spcPct val="115000"/>
              </a:lnSpc>
              <a:buNone/>
            </a:pPr>
            <a:r>
              <a:rPr lang="en-US" sz="1200" dirty="0">
                <a:solidFill>
                  <a:srgbClr val="5B6472"/>
                </a:solidFill>
                <a:latin typeface="Calibri" pitchFamily="34" charset="0"/>
                <a:ea typeface="Calibri" pitchFamily="34" charset="-122"/>
                <a:cs typeface="Calibri" pitchFamily="34" charset="-120"/>
              </a:rPr>
              <a:t>Three differentiated agents, a full policy engine, an approval workflow, and a deterministic hero demo — all running today.</a:t>
            </a:r>
            <a:endParaRPr lang="en-US" sz="1200" dirty="0"/>
          </a:p>
        </p:txBody>
      </p:sp>
      <p:sp>
        <p:nvSpPr>
          <p:cNvPr id="14" name="Shape 12"/>
          <p:cNvSpPr/>
          <p:nvPr/>
        </p:nvSpPr>
        <p:spPr>
          <a:xfrm>
            <a:off x="6400800" y="1874520"/>
            <a:ext cx="5212080" cy="4709160"/>
          </a:xfrm>
          <a:prstGeom prst="roundRect">
            <a:avLst>
              <a:gd name="adj" fmla="val 1748"/>
            </a:avLst>
          </a:prstGeom>
          <a:solidFill>
            <a:srgbClr val="0B1E3D"/>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5" name="Text 13"/>
          <p:cNvSpPr/>
          <p:nvPr/>
        </p:nvSpPr>
        <p:spPr>
          <a:xfrm>
            <a:off x="6720840" y="2103120"/>
            <a:ext cx="4572000" cy="274320"/>
          </a:xfrm>
          <a:prstGeom prst="rect">
            <a:avLst/>
          </a:prstGeom>
          <a:noFill/>
          <a:ln/>
        </p:spPr>
        <p:txBody>
          <a:bodyPr wrap="square" lIns="0" tIns="0" rIns="0" bIns="0" rtlCol="0" anchor="ctr"/>
          <a:lstStyle/>
          <a:p>
            <a:pPr indent="0" marL="0">
              <a:buNone/>
            </a:pPr>
            <a:r>
              <a:rPr lang="en-US" sz="1050" b="1" spc="200" kern="0" dirty="0">
                <a:solidFill>
                  <a:srgbClr val="2F6FEB"/>
                </a:solidFill>
                <a:latin typeface="Calibri" pitchFamily="34" charset="0"/>
                <a:ea typeface="Calibri" pitchFamily="34" charset="-122"/>
                <a:cs typeface="Calibri" pitchFamily="34" charset="-120"/>
              </a:rPr>
              <a:t>WHAT'S BUILT</a:t>
            </a:r>
            <a:endParaRPr lang="en-US" sz="1050" dirty="0"/>
          </a:p>
        </p:txBody>
      </p:sp>
      <p:sp>
        <p:nvSpPr>
          <p:cNvPr id="16" name="Text 14"/>
          <p:cNvSpPr/>
          <p:nvPr/>
        </p:nvSpPr>
        <p:spPr>
          <a:xfrm>
            <a:off x="6720840" y="2514600"/>
            <a:ext cx="4617720" cy="384048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Full agent orchestration pipeline (11 phases, audited)</a:t>
            </a:r>
            <a:endParaRPr lang="en-US" sz="1300" dirty="0"/>
          </a:p>
          <a:p>
            <a:pPr marL="342900" indent="-3429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Typed, zod-validated tool layer — agents never touch state directly</a:t>
            </a:r>
            <a:endParaRPr lang="en-US" sz="1300" dirty="0"/>
          </a:p>
          <a:p>
            <a:pPr marL="342900" indent="-3429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Configurable 5-level autonomy policy engine</a:t>
            </a:r>
            <a:endParaRPr lang="en-US" sz="1300" dirty="0"/>
          </a:p>
          <a:p>
            <a:pPr marL="342900" indent="-3429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Human approval workflow with full decision context</a:t>
            </a:r>
            <a:endParaRPr lang="en-US" sz="1300" dirty="0"/>
          </a:p>
          <a:p>
            <a:pPr marL="342900" indent="-3429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Deterministic simulation engine + reproducible hero demo</a:t>
            </a:r>
            <a:endParaRPr lang="en-US" sz="1300" dirty="0"/>
          </a:p>
          <a:p>
            <a:pPr marL="342900" indent="-3429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Interactive Next.js UI — 6 screens, live KPIs</a:t>
            </a:r>
            <a:endParaRPr lang="en-US" sz="1300" dirty="0"/>
          </a:p>
          <a:p>
            <a:pPr marL="342900" indent="-342900">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40 automated tests across agent logic, policy, and system state</a:t>
            </a:r>
            <a:endParaRPr lang="en-US" sz="1300" dirty="0"/>
          </a:p>
        </p:txBody>
      </p:sp>
      <p:sp>
        <p:nvSpPr>
          <p:cNvPr id="17" name="Text 15"/>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18" name="Text 16"/>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Visibility isn't the gap. Coordinated action is.</a:t>
            </a:r>
            <a:endParaRPr lang="en-US" sz="3000" dirty="0"/>
          </a:p>
        </p:txBody>
      </p:sp>
      <p:sp>
        <p:nvSpPr>
          <p:cNvPr id="4" name="Text 2"/>
          <p:cNvSpPr/>
          <p:nvPr/>
        </p:nvSpPr>
        <p:spPr>
          <a:xfrm>
            <a:off x="548640" y="1783080"/>
            <a:ext cx="5394960" cy="1371600"/>
          </a:xfrm>
          <a:prstGeom prst="rect">
            <a:avLst/>
          </a:prstGeom>
          <a:noFill/>
          <a:ln/>
        </p:spPr>
        <p:txBody>
          <a:bodyPr wrap="square" lIns="0" tIns="0" rIns="0" bIns="0" rtlCol="0" anchor="ctr"/>
          <a:lstStyle/>
          <a:p>
            <a:pPr indent="0" marL="0">
              <a:lnSpc>
                <a:spcPct val="130000"/>
              </a:lnSpc>
              <a:buNone/>
            </a:pPr>
            <a:r>
              <a:rPr lang="en-US" sz="1600" dirty="0">
                <a:solidFill>
                  <a:srgbClr val="14181F"/>
                </a:solidFill>
                <a:latin typeface="Calibri" pitchFamily="34" charset="0"/>
                <a:ea typeface="Calibri" pitchFamily="34" charset="-122"/>
                <a:cs typeface="Calibri" pitchFamily="34" charset="-120"/>
              </a:rPr>
              <a:t>Small and mid-sized carriers and 3PLs already know when a shipment is late.</a:t>
            </a:r>
            <a:endParaRPr lang="en-US" sz="1600" dirty="0"/>
          </a:p>
          <a:p>
            <a:pPr indent="0" marL="0">
              <a:lnSpc>
                <a:spcPct val="130000"/>
              </a:lnSpc>
              <a:buNone/>
            </a:pPr>
            <a:r>
              <a:rPr lang="en-US" sz="1600" b="1" dirty="0">
                <a:solidFill>
                  <a:srgbClr val="0B1E3D"/>
                </a:solidFill>
                <a:latin typeface="Calibri" pitchFamily="34" charset="0"/>
                <a:ea typeface="Calibri" pitchFamily="34" charset="-122"/>
                <a:cs typeface="Calibri" pitchFamily="34" charset="-120"/>
              </a:rPr>
              <a:t>What they don't have is a system that decides what to do about it and does it.</a:t>
            </a:r>
            <a:endParaRPr lang="en-US" sz="1600" dirty="0"/>
          </a:p>
        </p:txBody>
      </p:sp>
      <p:sp>
        <p:nvSpPr>
          <p:cNvPr id="5" name="Shape 3"/>
          <p:cNvSpPr/>
          <p:nvPr/>
        </p:nvSpPr>
        <p:spPr>
          <a:xfrm>
            <a:off x="548640" y="3346704"/>
            <a:ext cx="146304" cy="146304"/>
          </a:xfrm>
          <a:prstGeom prst="ellipse">
            <a:avLst/>
          </a:prstGeom>
          <a:solidFill>
            <a:srgbClr val="C4322E"/>
          </a:solidFill>
          <a:ln/>
        </p:spPr>
      </p:sp>
      <p:sp>
        <p:nvSpPr>
          <p:cNvPr id="6" name="Text 4"/>
          <p:cNvSpPr/>
          <p:nvPr/>
        </p:nvSpPr>
        <p:spPr>
          <a:xfrm>
            <a:off x="868680" y="3291840"/>
            <a:ext cx="5120640" cy="365760"/>
          </a:xfrm>
          <a:prstGeom prst="rect">
            <a:avLst/>
          </a:prstGeom>
          <a:noFill/>
          <a:ln/>
        </p:spPr>
        <p:txBody>
          <a:bodyPr wrap="square" lIns="0" tIns="0" rIns="0" bIns="0" rtlCol="0" anchor="ctr"/>
          <a:lstStyle/>
          <a:p>
            <a:pPr indent="0" marL="0">
              <a:buNone/>
            </a:pPr>
            <a:r>
              <a:rPr lang="en-US" sz="1300" dirty="0">
                <a:solidFill>
                  <a:srgbClr val="14181F"/>
                </a:solidFill>
                <a:latin typeface="Calibri" pitchFamily="34" charset="0"/>
                <a:ea typeface="Calibri" pitchFamily="34" charset="-122"/>
                <a:cs typeface="Calibri" pitchFamily="34" charset="-120"/>
              </a:rPr>
              <a:t>A dispatcher has to notice the exception first</a:t>
            </a:r>
            <a:endParaRPr lang="en-US" sz="1300" dirty="0"/>
          </a:p>
        </p:txBody>
      </p:sp>
      <p:sp>
        <p:nvSpPr>
          <p:cNvPr id="7" name="Shape 5"/>
          <p:cNvSpPr/>
          <p:nvPr/>
        </p:nvSpPr>
        <p:spPr>
          <a:xfrm>
            <a:off x="548640" y="3803904"/>
            <a:ext cx="146304" cy="146304"/>
          </a:xfrm>
          <a:prstGeom prst="ellipse">
            <a:avLst/>
          </a:prstGeom>
          <a:solidFill>
            <a:srgbClr val="C4322E"/>
          </a:solidFill>
          <a:ln/>
        </p:spPr>
      </p:sp>
      <p:sp>
        <p:nvSpPr>
          <p:cNvPr id="8" name="Text 6"/>
          <p:cNvSpPr/>
          <p:nvPr/>
        </p:nvSpPr>
        <p:spPr>
          <a:xfrm>
            <a:off x="868680" y="3749040"/>
            <a:ext cx="5120640" cy="365760"/>
          </a:xfrm>
          <a:prstGeom prst="rect">
            <a:avLst/>
          </a:prstGeom>
          <a:noFill/>
          <a:ln/>
        </p:spPr>
        <p:txBody>
          <a:bodyPr wrap="square" lIns="0" tIns="0" rIns="0" bIns="0" rtlCol="0" anchor="ctr"/>
          <a:lstStyle/>
          <a:p>
            <a:pPr indent="0" marL="0">
              <a:buNone/>
            </a:pPr>
            <a:r>
              <a:rPr lang="en-US" sz="1300" dirty="0">
                <a:solidFill>
                  <a:srgbClr val="14181F"/>
                </a:solidFill>
                <a:latin typeface="Calibri" pitchFamily="34" charset="0"/>
                <a:ea typeface="Calibri" pitchFamily="34" charset="-122"/>
                <a:cs typeface="Calibri" pitchFamily="34" charset="-120"/>
              </a:rPr>
              <a:t>...then call the facility to rebook the appointment</a:t>
            </a:r>
            <a:endParaRPr lang="en-US" sz="1300" dirty="0"/>
          </a:p>
        </p:txBody>
      </p:sp>
      <p:sp>
        <p:nvSpPr>
          <p:cNvPr id="9" name="Shape 7"/>
          <p:cNvSpPr/>
          <p:nvPr/>
        </p:nvSpPr>
        <p:spPr>
          <a:xfrm>
            <a:off x="548640" y="4261104"/>
            <a:ext cx="146304" cy="146304"/>
          </a:xfrm>
          <a:prstGeom prst="ellipse">
            <a:avLst/>
          </a:prstGeom>
          <a:solidFill>
            <a:srgbClr val="C4322E"/>
          </a:solidFill>
          <a:ln/>
        </p:spPr>
      </p:sp>
      <p:sp>
        <p:nvSpPr>
          <p:cNvPr id="10" name="Text 8"/>
          <p:cNvSpPr/>
          <p:nvPr/>
        </p:nvSpPr>
        <p:spPr>
          <a:xfrm>
            <a:off x="868680" y="4206240"/>
            <a:ext cx="5120640" cy="365760"/>
          </a:xfrm>
          <a:prstGeom prst="rect">
            <a:avLst/>
          </a:prstGeom>
          <a:noFill/>
          <a:ln/>
        </p:spPr>
        <p:txBody>
          <a:bodyPr wrap="square" lIns="0" tIns="0" rIns="0" bIns="0" rtlCol="0" anchor="ctr"/>
          <a:lstStyle/>
          <a:p>
            <a:pPr indent="0" marL="0">
              <a:buNone/>
            </a:pPr>
            <a:r>
              <a:rPr lang="en-US" sz="1300" dirty="0">
                <a:solidFill>
                  <a:srgbClr val="14181F"/>
                </a:solidFill>
                <a:latin typeface="Calibri" pitchFamily="34" charset="0"/>
                <a:ea typeface="Calibri" pitchFamily="34" charset="-122"/>
                <a:cs typeface="Calibri" pitchFamily="34" charset="-120"/>
              </a:rPr>
              <a:t>...then call the customer with a new ETA</a:t>
            </a:r>
            <a:endParaRPr lang="en-US" sz="1300" dirty="0"/>
          </a:p>
        </p:txBody>
      </p:sp>
      <p:sp>
        <p:nvSpPr>
          <p:cNvPr id="11" name="Shape 9"/>
          <p:cNvSpPr/>
          <p:nvPr/>
        </p:nvSpPr>
        <p:spPr>
          <a:xfrm>
            <a:off x="548640" y="4718304"/>
            <a:ext cx="146304" cy="146304"/>
          </a:xfrm>
          <a:prstGeom prst="ellipse">
            <a:avLst/>
          </a:prstGeom>
          <a:solidFill>
            <a:srgbClr val="C4322E"/>
          </a:solidFill>
          <a:ln/>
        </p:spPr>
      </p:sp>
      <p:sp>
        <p:nvSpPr>
          <p:cNvPr id="12" name="Text 10"/>
          <p:cNvSpPr/>
          <p:nvPr/>
        </p:nvSpPr>
        <p:spPr>
          <a:xfrm>
            <a:off x="868680" y="4663440"/>
            <a:ext cx="5120640" cy="365760"/>
          </a:xfrm>
          <a:prstGeom prst="rect">
            <a:avLst/>
          </a:prstGeom>
          <a:noFill/>
          <a:ln/>
        </p:spPr>
        <p:txBody>
          <a:bodyPr wrap="square" lIns="0" tIns="0" rIns="0" bIns="0" rtlCol="0" anchor="ctr"/>
          <a:lstStyle/>
          <a:p>
            <a:pPr indent="0" marL="0">
              <a:buNone/>
            </a:pPr>
            <a:r>
              <a:rPr lang="en-US" sz="1300" dirty="0">
                <a:solidFill>
                  <a:srgbClr val="14181F"/>
                </a:solidFill>
                <a:latin typeface="Calibri" pitchFamily="34" charset="0"/>
                <a:ea typeface="Calibri" pitchFamily="34" charset="-122"/>
                <a:cs typeface="Calibri" pitchFamily="34" charset="-120"/>
              </a:rPr>
              <a:t>...then re-key the outcome into two or three systems</a:t>
            </a:r>
            <a:endParaRPr lang="en-US" sz="1300" dirty="0"/>
          </a:p>
        </p:txBody>
      </p:sp>
      <p:sp>
        <p:nvSpPr>
          <p:cNvPr id="13" name="Shape 11"/>
          <p:cNvSpPr/>
          <p:nvPr/>
        </p:nvSpPr>
        <p:spPr>
          <a:xfrm>
            <a:off x="548640" y="5175504"/>
            <a:ext cx="146304" cy="146304"/>
          </a:xfrm>
          <a:prstGeom prst="ellipse">
            <a:avLst/>
          </a:prstGeom>
          <a:solidFill>
            <a:srgbClr val="C4322E"/>
          </a:solidFill>
          <a:ln/>
        </p:spPr>
      </p:sp>
      <p:sp>
        <p:nvSpPr>
          <p:cNvPr id="14" name="Text 12"/>
          <p:cNvSpPr/>
          <p:nvPr/>
        </p:nvSpPr>
        <p:spPr>
          <a:xfrm>
            <a:off x="868680" y="5120640"/>
            <a:ext cx="5120640" cy="365760"/>
          </a:xfrm>
          <a:prstGeom prst="rect">
            <a:avLst/>
          </a:prstGeom>
          <a:noFill/>
          <a:ln/>
        </p:spPr>
        <p:txBody>
          <a:bodyPr wrap="square" lIns="0" tIns="0" rIns="0" bIns="0" rtlCol="0" anchor="ctr"/>
          <a:lstStyle/>
          <a:p>
            <a:pPr indent="0" marL="0">
              <a:buNone/>
            </a:pPr>
            <a:r>
              <a:rPr lang="en-US" sz="1300" dirty="0">
                <a:solidFill>
                  <a:srgbClr val="14181F"/>
                </a:solidFill>
                <a:latin typeface="Calibri" pitchFamily="34" charset="0"/>
                <a:ea typeface="Calibri" pitchFamily="34" charset="-122"/>
                <a:cs typeface="Calibri" pitchFamily="34" charset="-120"/>
              </a:rPr>
              <a:t>...repeated dozens of times a day, worst exactly when busiest</a:t>
            </a:r>
            <a:endParaRPr lang="en-US" sz="1300" dirty="0"/>
          </a:p>
        </p:txBody>
      </p:sp>
      <p:sp>
        <p:nvSpPr>
          <p:cNvPr id="15" name="Shape 13"/>
          <p:cNvSpPr/>
          <p:nvPr/>
        </p:nvSpPr>
        <p:spPr>
          <a:xfrm>
            <a:off x="6400800" y="1783080"/>
            <a:ext cx="5212080" cy="4434840"/>
          </a:xfrm>
          <a:prstGeom prst="roundRect">
            <a:avLst>
              <a:gd name="adj" fmla="val 1856"/>
            </a:avLst>
          </a:prstGeom>
          <a:solidFill>
            <a:srgbClr val="0B1E3D"/>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6" name="Text 14"/>
          <p:cNvSpPr/>
          <p:nvPr/>
        </p:nvSpPr>
        <p:spPr>
          <a:xfrm>
            <a:off x="6720840" y="2057400"/>
            <a:ext cx="4572000" cy="274320"/>
          </a:xfrm>
          <a:prstGeom prst="rect">
            <a:avLst/>
          </a:prstGeom>
          <a:noFill/>
          <a:ln/>
        </p:spPr>
        <p:txBody>
          <a:bodyPr wrap="square" lIns="0" tIns="0" rIns="0" bIns="0" rtlCol="0" anchor="ctr"/>
          <a:lstStyle/>
          <a:p>
            <a:pPr indent="0" marL="0">
              <a:buNone/>
            </a:pPr>
            <a:r>
              <a:rPr lang="en-US" sz="1050" b="1" spc="200" kern="0" dirty="0">
                <a:solidFill>
                  <a:srgbClr val="2F6FEB"/>
                </a:solidFill>
                <a:latin typeface="Calibri" pitchFamily="34" charset="0"/>
                <a:ea typeface="Calibri" pitchFamily="34" charset="-122"/>
                <a:cs typeface="Calibri" pitchFamily="34" charset="-120"/>
              </a:rPr>
              <a:t>THE REAL QUESTION</a:t>
            </a:r>
            <a:endParaRPr lang="en-US" sz="1050" dirty="0"/>
          </a:p>
        </p:txBody>
      </p:sp>
      <p:sp>
        <p:nvSpPr>
          <p:cNvPr id="17" name="Text 15"/>
          <p:cNvSpPr/>
          <p:nvPr/>
        </p:nvSpPr>
        <p:spPr>
          <a:xfrm>
            <a:off x="6720840" y="2423160"/>
            <a:ext cx="4572000" cy="502920"/>
          </a:xfrm>
          <a:prstGeom prst="rect">
            <a:avLst/>
          </a:prstGeom>
          <a:noFill/>
          <a:ln/>
        </p:spPr>
        <p:txBody>
          <a:bodyPr wrap="square" lIns="0" tIns="0" rIns="0" bIns="0" rtlCol="0" anchor="ctr"/>
          <a:lstStyle/>
          <a:p>
            <a:pPr indent="0" marL="0">
              <a:buNone/>
            </a:pPr>
            <a:r>
              <a:rPr lang="en-US" sz="2000" i="1" strike="sngStrike" dirty="0">
                <a:solidFill>
                  <a:srgbClr val="7C8CB0"/>
                </a:solidFill>
                <a:latin typeface="Cambria" pitchFamily="34" charset="0"/>
                <a:ea typeface="Cambria" pitchFamily="34" charset="-122"/>
                <a:cs typeface="Cambria" pitchFamily="34" charset="-120"/>
              </a:rPr>
              <a:t>“What is happening?”</a:t>
            </a:r>
            <a:endParaRPr lang="en-US" sz="2000" dirty="0"/>
          </a:p>
        </p:txBody>
      </p:sp>
      <p:sp>
        <p:nvSpPr>
          <p:cNvPr id="18" name="Text 16"/>
          <p:cNvSpPr/>
          <p:nvPr/>
        </p:nvSpPr>
        <p:spPr>
          <a:xfrm>
            <a:off x="6720840" y="3063240"/>
            <a:ext cx="4617720" cy="12801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should happen next — and can the system make it happen?”</a:t>
            </a:r>
            <a:endParaRPr lang="en-US" sz="2200" dirty="0"/>
          </a:p>
        </p:txBody>
      </p:sp>
      <p:sp>
        <p:nvSpPr>
          <p:cNvPr id="19" name="Text 17"/>
          <p:cNvSpPr/>
          <p:nvPr/>
        </p:nvSpPr>
        <p:spPr>
          <a:xfrm>
            <a:off x="6720840" y="4709160"/>
            <a:ext cx="4572000" cy="1188720"/>
          </a:xfrm>
          <a:prstGeom prst="rect">
            <a:avLst/>
          </a:prstGeom>
          <a:noFill/>
          <a:ln/>
        </p:spPr>
        <p:txBody>
          <a:bodyPr wrap="square" lIns="0" tIns="0" rIns="0" bIns="0" rtlCol="0" anchor="ctr"/>
          <a:lstStyle/>
          <a:p>
            <a:pPr indent="0" marL="0">
              <a:lnSpc>
                <a:spcPct val="125000"/>
              </a:lnSpc>
              <a:buNone/>
            </a:pPr>
            <a:r>
              <a:rPr lang="en-US" sz="1250" dirty="0">
                <a:solidFill>
                  <a:srgbClr val="CADCFC"/>
                </a:solidFill>
                <a:latin typeface="Calibri" pitchFamily="34" charset="0"/>
                <a:ea typeface="Calibri" pitchFamily="34" charset="-122"/>
                <a:cs typeface="Calibri" pitchFamily="34" charset="-120"/>
              </a:rPr>
              <a:t>That's the shift from a visibility product to an operations layer — and it's the entire premise NEXUS is built to prove.</a:t>
            </a:r>
            <a:endParaRPr lang="en-US" sz="1250" dirty="0"/>
          </a:p>
        </p:txBody>
      </p:sp>
      <p:sp>
        <p:nvSpPr>
          <p:cNvPr id="20" name="Text 18"/>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21" name="Text 19"/>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TARGET USER</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Dana, Operations Manager — regional carrier / 3PL</a:t>
            </a:r>
            <a:endParaRPr lang="en-US" sz="3000" dirty="0"/>
          </a:p>
        </p:txBody>
      </p:sp>
      <p:sp>
        <p:nvSpPr>
          <p:cNvPr id="4" name="Text 2"/>
          <p:cNvSpPr/>
          <p:nvPr/>
        </p:nvSpPr>
        <p:spPr>
          <a:xfrm>
            <a:off x="548640" y="1207008"/>
            <a:ext cx="10607040" cy="457200"/>
          </a:xfrm>
          <a:prstGeom prst="rect">
            <a:avLst/>
          </a:prstGeom>
          <a:noFill/>
          <a:ln/>
        </p:spPr>
        <p:txBody>
          <a:bodyPr wrap="square" lIns="0" tIns="0" rIns="0" bIns="0" rtlCol="0" anchor="ctr"/>
          <a:lstStyle/>
          <a:p>
            <a:pPr indent="0" marL="0">
              <a:buNone/>
            </a:pPr>
            <a:r>
              <a:rPr lang="en-US" sz="1350" dirty="0">
                <a:solidFill>
                  <a:srgbClr val="5B6472"/>
                </a:solidFill>
                <a:latin typeface="Calibri" pitchFamily="34" charset="0"/>
                <a:ea typeface="Calibri" pitchFamily="34" charset="-122"/>
                <a:cs typeface="Calibri" pitchFamily="34" charset="-120"/>
              </a:rPr>
              <a:t>Narrow on purpose: small and mid-sized operators are underserved by enterprise-scale platforms.</a:t>
            </a:r>
            <a:endParaRPr lang="en-US" sz="1350" dirty="0"/>
          </a:p>
        </p:txBody>
      </p:sp>
      <p:sp>
        <p:nvSpPr>
          <p:cNvPr id="5" name="Shape 3"/>
          <p:cNvSpPr/>
          <p:nvPr/>
        </p:nvSpPr>
        <p:spPr>
          <a:xfrm>
            <a:off x="548640" y="1828800"/>
            <a:ext cx="3657600" cy="4434840"/>
          </a:xfrm>
          <a:prstGeom prst="roundRect">
            <a:avLst>
              <a:gd name="adj" fmla="val 2250"/>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6" name="Shape 4"/>
          <p:cNvSpPr/>
          <p:nvPr/>
        </p:nvSpPr>
        <p:spPr>
          <a:xfrm>
            <a:off x="1988820" y="2125980"/>
            <a:ext cx="777240" cy="777240"/>
          </a:xfrm>
          <a:prstGeom prst="ellipse">
            <a:avLst/>
          </a:prstGeom>
          <a:solidFill>
            <a:srgbClr val="2F6FEB"/>
          </a:solidFill>
          <a:ln/>
        </p:spPr>
      </p:sp>
      <p:sp>
        <p:nvSpPr>
          <p:cNvPr id="7" name="Text 5"/>
          <p:cNvSpPr/>
          <p:nvPr/>
        </p:nvSpPr>
        <p:spPr>
          <a:xfrm>
            <a:off x="1988820" y="2125980"/>
            <a:ext cx="777240" cy="777240"/>
          </a:xfrm>
          <a:prstGeom prst="rect">
            <a:avLst/>
          </a:prstGeom>
          <a:noFill/>
          <a:ln/>
        </p:spPr>
        <p:txBody>
          <a:bodyPr wrap="square" lIns="0" tIns="0" rIns="0" bIns="0" rtlCol="0" anchor="ctr"/>
          <a:lstStyle/>
          <a:p>
            <a:pPr algn="ctr" indent="0" marL="0">
              <a:buNone/>
            </a:pPr>
            <a:r>
              <a:rPr lang="en-US" sz="2890" b="1" dirty="0">
                <a:solidFill>
                  <a:srgbClr val="FFFFFF"/>
                </a:solidFill>
                <a:latin typeface="Calibri" pitchFamily="34" charset="0"/>
                <a:ea typeface="Calibri" pitchFamily="34" charset="-122"/>
                <a:cs typeface="Calibri" pitchFamily="34" charset="-120"/>
              </a:rPr>
              <a:t>D</a:t>
            </a:r>
            <a:endParaRPr lang="en-US" sz="2890" dirty="0"/>
          </a:p>
        </p:txBody>
      </p:sp>
      <p:sp>
        <p:nvSpPr>
          <p:cNvPr id="8" name="Text 6"/>
          <p:cNvSpPr/>
          <p:nvPr/>
        </p:nvSpPr>
        <p:spPr>
          <a:xfrm>
            <a:off x="822960" y="3063240"/>
            <a:ext cx="3108960" cy="365760"/>
          </a:xfrm>
          <a:prstGeom prst="rect">
            <a:avLst/>
          </a:prstGeom>
          <a:noFill/>
          <a:ln/>
        </p:spPr>
        <p:txBody>
          <a:bodyPr wrap="square" lIns="0" tIns="0" rIns="0" bIns="0" rtlCol="0" anchor="ctr"/>
          <a:lstStyle/>
          <a:p>
            <a:pPr algn="ctr" indent="0" marL="0">
              <a:buNone/>
            </a:pPr>
            <a:r>
              <a:rPr lang="en-US" sz="1700" b="1" dirty="0">
                <a:solidFill>
                  <a:srgbClr val="0B1E3D"/>
                </a:solidFill>
                <a:latin typeface="Cambria" pitchFamily="34" charset="0"/>
                <a:ea typeface="Cambria" pitchFamily="34" charset="-122"/>
                <a:cs typeface="Cambria" pitchFamily="34" charset="-120"/>
              </a:rPr>
              <a:t>Dana</a:t>
            </a:r>
            <a:endParaRPr lang="en-US" sz="1700" dirty="0"/>
          </a:p>
        </p:txBody>
      </p:sp>
      <p:sp>
        <p:nvSpPr>
          <p:cNvPr id="9" name="Text 7"/>
          <p:cNvSpPr/>
          <p:nvPr/>
        </p:nvSpPr>
        <p:spPr>
          <a:xfrm>
            <a:off x="822960" y="3429000"/>
            <a:ext cx="3108960" cy="32004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Ops Manager, 60-truck regional carrier</a:t>
            </a:r>
            <a:endParaRPr lang="en-US" sz="1100" dirty="0"/>
          </a:p>
        </p:txBody>
      </p:sp>
      <p:sp>
        <p:nvSpPr>
          <p:cNvPr id="10" name="Text 8"/>
          <p:cNvSpPr/>
          <p:nvPr/>
        </p:nvSpPr>
        <p:spPr>
          <a:xfrm>
            <a:off x="868680" y="3931920"/>
            <a:ext cx="3017520" cy="2194560"/>
          </a:xfrm>
          <a:prstGeom prst="rect">
            <a:avLst/>
          </a:prstGeom>
          <a:noFill/>
          <a:ln/>
        </p:spPr>
        <p:txBody>
          <a:bodyPr wrap="square" lIns="0" tIns="0" rIns="0" bIns="0" rtlCol="0" anchor="ctr"/>
          <a:lstStyle/>
          <a:p>
            <a:pPr marL="342900" indent="-342900">
              <a:spcAft>
                <a:spcPts val="1000"/>
              </a:spcAft>
              <a:buSzPct val="100000"/>
              <a:buChar char="•"/>
            </a:pPr>
            <a:r>
              <a:rPr lang="en-US" sz="1150" dirty="0">
                <a:solidFill>
                  <a:srgbClr val="14181F"/>
                </a:solidFill>
                <a:latin typeface="Calibri" pitchFamily="34" charset="0"/>
                <a:ea typeface="Calibri" pitchFamily="34" charset="-122"/>
                <a:cs typeface="Calibri" pitchFamily="34" charset="-120"/>
              </a:rPr>
              <a:t>Owns on-time performance for ~80 active shipments/day</a:t>
            </a:r>
            <a:endParaRPr lang="en-US" sz="1150" dirty="0"/>
          </a:p>
          <a:p>
            <a:pPr marL="342900" indent="-342900">
              <a:spcAft>
                <a:spcPts val="1000"/>
              </a:spcAft>
              <a:buSzPct val="100000"/>
              <a:buChar char="•"/>
            </a:pPr>
            <a:r>
              <a:rPr lang="en-US" sz="1150" dirty="0">
                <a:solidFill>
                  <a:srgbClr val="14181F"/>
                </a:solidFill>
                <a:latin typeface="Calibri" pitchFamily="34" charset="0"/>
                <a:ea typeface="Calibri" pitchFamily="34" charset="-122"/>
                <a:cs typeface="Calibri" pitchFamily="34" charset="-120"/>
              </a:rPr>
              <a:t>Splits her day between dispatch and firefighting</a:t>
            </a:r>
            <a:endParaRPr lang="en-US" sz="1150" dirty="0"/>
          </a:p>
          <a:p>
            <a:pPr marL="342900" indent="-342900">
              <a:spcAft>
                <a:spcPts val="1000"/>
              </a:spcAft>
              <a:buSzPct val="100000"/>
              <a:buChar char="•"/>
            </a:pPr>
            <a:r>
              <a:rPr lang="en-US" sz="1150" dirty="0">
                <a:solidFill>
                  <a:srgbClr val="14181F"/>
                </a:solidFill>
                <a:latin typeface="Calibri" pitchFamily="34" charset="0"/>
                <a:ea typeface="Calibri" pitchFamily="34" charset="-122"/>
                <a:cs typeface="Calibri" pitchFamily="34" charset="-120"/>
              </a:rPr>
              <a:t>TMS + phone/text + spreadsheets today</a:t>
            </a:r>
            <a:endParaRPr lang="en-US" sz="1150" dirty="0"/>
          </a:p>
          <a:p>
            <a:pPr marL="342900" indent="-342900">
              <a:spcAft>
                <a:spcPts val="1000"/>
              </a:spcAft>
              <a:buSzPct val="100000"/>
              <a:buChar char="•"/>
            </a:pPr>
            <a:r>
              <a:rPr lang="en-US" sz="1150" dirty="0">
                <a:solidFill>
                  <a:srgbClr val="14181F"/>
                </a:solidFill>
                <a:latin typeface="Calibri" pitchFamily="34" charset="0"/>
                <a:ea typeface="Calibri" pitchFamily="34" charset="-122"/>
                <a:cs typeface="Calibri" pitchFamily="34" charset="-120"/>
              </a:rPr>
              <a:t>Won't trust a black box — needs visible reasoning and adjustable permissions</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0" y="1828800"/>
          <a:ext cx="7040880" cy="3291840"/>
        </p:xfrm>
        <a:graphic>
          <a:graphicData uri="http://schemas.openxmlformats.org/drawingml/2006/table">
            <a:tbl>
              <a:tblPr/>
              <a:tblGrid>
                <a:gridCol w="2011680"/>
                <a:gridCol w="2651760"/>
                <a:gridCol w="2377440"/>
              </a:tblGrid>
              <a:tr h="65836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Alternative</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Strength</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 it stops</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r>
              <a:tr h="658368">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project44 / FourKites</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Real-time visibility, predictive ETA</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Reports the problem — no action</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658368">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Manhattan Associates</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Planning &amp; optimization at scale</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Not built for live exception response</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658368">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Locus</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Route optimization &amp; dispatch</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Optimizes the plan, not the recovery</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658368">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Phone + spreadsheet</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Total flexibility</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Doesn't scale, no audit trail</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bl>
          </a:graphicData>
        </a:graphic>
      </p:graphicFrame>
      <p:sp>
        <p:nvSpPr>
          <p:cNvPr id="12" name="Shape 9"/>
          <p:cNvSpPr/>
          <p:nvPr/>
        </p:nvSpPr>
        <p:spPr>
          <a:xfrm>
            <a:off x="4572000" y="5349240"/>
            <a:ext cx="7040880" cy="914400"/>
          </a:xfrm>
          <a:prstGeom prst="roundRect">
            <a:avLst>
              <a:gd name="adj" fmla="val 9000"/>
            </a:avLst>
          </a:prstGeom>
          <a:solidFill>
            <a:srgbClr val="EEF3FE"/>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3" name="Text 10"/>
          <p:cNvSpPr/>
          <p:nvPr/>
        </p:nvSpPr>
        <p:spPr>
          <a:xfrm>
            <a:off x="4846320" y="5468112"/>
            <a:ext cx="6492240" cy="685800"/>
          </a:xfrm>
          <a:prstGeom prst="rect">
            <a:avLst/>
          </a:prstGeom>
          <a:noFill/>
          <a:ln/>
        </p:spPr>
        <p:txBody>
          <a:bodyPr wrap="square" lIns="0" tIns="0" rIns="0" bIns="0" rtlCol="0" anchor="ctr"/>
          <a:lstStyle/>
          <a:p>
            <a:pPr indent="0" marL="0">
              <a:lnSpc>
                <a:spcPct val="120000"/>
              </a:lnSpc>
              <a:buNone/>
            </a:pPr>
            <a:r>
              <a:rPr lang="en-US" sz="1150" i="1" dirty="0">
                <a:solidFill>
                  <a:srgbClr val="0B1E3D"/>
                </a:solidFill>
                <a:latin typeface="Calibri" pitchFamily="34" charset="0"/>
                <a:ea typeface="Calibri" pitchFamily="34" charset="-122"/>
                <a:cs typeface="Calibri" pitchFamily="34" charset="-120"/>
              </a:rPr>
              <a:t>Unmet need: an operations layer that sits on the TMS, watches for the same disruptions a dispatcher would, and — within limits the operator controls — actually resolves them.</a:t>
            </a:r>
            <a:endParaRPr lang="en-US" sz="1150" dirty="0"/>
          </a:p>
        </p:txBody>
      </p:sp>
      <p:sp>
        <p:nvSpPr>
          <p:cNvPr id="14" name="Text 11"/>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15" name="Text 12"/>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E3D"/>
        </a:solidFill>
      </p:bgPr>
    </p:bg>
    <p:spTree>
      <p:nvGrpSpPr>
        <p:cNvPr id="1" name=""/>
        <p:cNvGrpSpPr/>
        <p:nvPr/>
      </p:nvGrpSpPr>
      <p:grpSpPr>
        <a:xfrm>
          <a:off x="0" y="0"/>
          <a:ext cx="0" cy="0"/>
          <a:chOff x="0" y="0"/>
          <a:chExt cx="0" cy="0"/>
        </a:xfrm>
      </p:grpSpPr>
      <p:sp>
        <p:nvSpPr>
          <p:cNvPr id="2" name="Text 0"/>
          <p:cNvSpPr/>
          <p:nvPr/>
        </p:nvSpPr>
        <p:spPr>
          <a:xfrm>
            <a:off x="822960" y="640080"/>
            <a:ext cx="9144000" cy="320040"/>
          </a:xfrm>
          <a:prstGeom prst="rect">
            <a:avLst/>
          </a:prstGeom>
          <a:noFill/>
          <a:ln/>
        </p:spPr>
        <p:txBody>
          <a:bodyPr wrap="square" lIns="0" tIns="0" rIns="0" bIns="0" rtlCol="0" anchor="ctr"/>
          <a:lstStyle/>
          <a:p>
            <a:pPr indent="0" marL="0">
              <a:buNone/>
            </a:pPr>
            <a:r>
              <a:rPr lang="en-US" sz="1200" b="1" spc="200" kern="0" dirty="0">
                <a:solidFill>
                  <a:srgbClr val="2F6FEB"/>
                </a:solidFill>
                <a:latin typeface="Calibri" pitchFamily="34" charset="0"/>
                <a:ea typeface="Calibri" pitchFamily="34" charset="-122"/>
                <a:cs typeface="Calibri" pitchFamily="34" charset="-120"/>
              </a:rPr>
              <a:t>PRODUCT THESIS</a:t>
            </a:r>
            <a:endParaRPr lang="en-US" sz="1200" dirty="0"/>
          </a:p>
        </p:txBody>
      </p:sp>
      <p:sp>
        <p:nvSpPr>
          <p:cNvPr id="3" name="Text 1"/>
          <p:cNvSpPr/>
          <p:nvPr/>
        </p:nvSpPr>
        <p:spPr>
          <a:xfrm>
            <a:off x="822960" y="1097280"/>
            <a:ext cx="10515600" cy="1920240"/>
          </a:xfrm>
          <a:prstGeom prst="rect">
            <a:avLst/>
          </a:prstGeom>
          <a:noFill/>
          <a:ln/>
        </p:spPr>
        <p:txBody>
          <a:bodyPr wrap="square" lIns="0" tIns="0" rIns="0" bIns="0" rtlCol="0" anchor="ctr"/>
          <a:lstStyle/>
          <a:p>
            <a:pPr indent="0" marL="0">
              <a:lnSpc>
                <a:spcPct val="120000"/>
              </a:lnSpc>
              <a:buNone/>
            </a:pPr>
            <a:r>
              <a:rPr lang="en-US" sz="2500" b="1" dirty="0">
                <a:solidFill>
                  <a:srgbClr val="FFFFFF"/>
                </a:solidFill>
                <a:latin typeface="Cambria" pitchFamily="34" charset="0"/>
                <a:ea typeface="Cambria" pitchFamily="34" charset="-122"/>
                <a:cs typeface="Cambria" pitchFamily="34" charset="-120"/>
              </a:rPr>
              <a:t>NEXUS is an autonomous logistics operations layer that continuously monitors shipments, understands operational disruptions, determines the best recovery action, executes permitted actions through controlled tools, verifies the outcome, and escalates to humans when necessary.</a:t>
            </a:r>
            <a:endParaRPr lang="en-US" sz="2500" dirty="0"/>
          </a:p>
        </p:txBody>
      </p:sp>
      <p:sp>
        <p:nvSpPr>
          <p:cNvPr id="4" name="Shape 2"/>
          <p:cNvSpPr/>
          <p:nvPr/>
        </p:nvSpPr>
        <p:spPr>
          <a:xfrm>
            <a:off x="822960" y="4160520"/>
            <a:ext cx="1481328" cy="868680"/>
          </a:xfrm>
          <a:prstGeom prst="roundRect">
            <a:avLst>
              <a:gd name="adj" fmla="val 7368"/>
            </a:avLst>
          </a:prstGeom>
          <a:solidFill>
            <a:srgbClr val="132A52"/>
          </a:solidFill>
          <a:ln w="12700">
            <a:solidFill>
              <a:srgbClr val="2F6FEB"/>
            </a:solidFill>
            <a:prstDash val="solid"/>
          </a:ln>
        </p:spPr>
      </p:sp>
      <p:sp>
        <p:nvSpPr>
          <p:cNvPr id="5" name="Text 3"/>
          <p:cNvSpPr/>
          <p:nvPr/>
        </p:nvSpPr>
        <p:spPr>
          <a:xfrm>
            <a:off x="822960" y="416052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Observe</a:t>
            </a:r>
            <a:endParaRPr lang="en-US" sz="1300" dirty="0"/>
          </a:p>
        </p:txBody>
      </p:sp>
      <p:sp>
        <p:nvSpPr>
          <p:cNvPr id="6" name="Text 4"/>
          <p:cNvSpPr/>
          <p:nvPr/>
        </p:nvSpPr>
        <p:spPr>
          <a:xfrm>
            <a:off x="2304288" y="4160520"/>
            <a:ext cx="146304" cy="868680"/>
          </a:xfrm>
          <a:prstGeom prst="rect">
            <a:avLst/>
          </a:prstGeom>
          <a:noFill/>
          <a:ln/>
        </p:spPr>
        <p:txBody>
          <a:bodyPr wrap="square" lIns="0" tIns="0" rIns="0" bIns="0" rtlCol="0" anchor="ctr"/>
          <a:lstStyle/>
          <a:p>
            <a:pPr algn="ctr" indent="0" marL="0">
              <a:buNone/>
            </a:pPr>
            <a:r>
              <a:rPr lang="en-US" sz="1400" dirty="0">
                <a:solidFill>
                  <a:srgbClr val="2F6FEB"/>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a:off x="2432304" y="4160520"/>
            <a:ext cx="1481328" cy="868680"/>
          </a:xfrm>
          <a:prstGeom prst="roundRect">
            <a:avLst>
              <a:gd name="adj" fmla="val 7368"/>
            </a:avLst>
          </a:prstGeom>
          <a:solidFill>
            <a:srgbClr val="132A52"/>
          </a:solidFill>
          <a:ln w="12700">
            <a:solidFill>
              <a:srgbClr val="2F6FEB"/>
            </a:solidFill>
            <a:prstDash val="solid"/>
          </a:ln>
        </p:spPr>
      </p:sp>
      <p:sp>
        <p:nvSpPr>
          <p:cNvPr id="8" name="Text 6"/>
          <p:cNvSpPr/>
          <p:nvPr/>
        </p:nvSpPr>
        <p:spPr>
          <a:xfrm>
            <a:off x="2432304" y="416052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Understand</a:t>
            </a:r>
            <a:endParaRPr lang="en-US" sz="1300" dirty="0"/>
          </a:p>
        </p:txBody>
      </p:sp>
      <p:sp>
        <p:nvSpPr>
          <p:cNvPr id="9" name="Text 7"/>
          <p:cNvSpPr/>
          <p:nvPr/>
        </p:nvSpPr>
        <p:spPr>
          <a:xfrm>
            <a:off x="3913632" y="4160520"/>
            <a:ext cx="146304" cy="868680"/>
          </a:xfrm>
          <a:prstGeom prst="rect">
            <a:avLst/>
          </a:prstGeom>
          <a:noFill/>
          <a:ln/>
        </p:spPr>
        <p:txBody>
          <a:bodyPr wrap="square" lIns="0" tIns="0" rIns="0" bIns="0" rtlCol="0" anchor="ctr"/>
          <a:lstStyle/>
          <a:p>
            <a:pPr algn="ctr" indent="0" marL="0">
              <a:buNone/>
            </a:pPr>
            <a:r>
              <a:rPr lang="en-US" sz="1400" dirty="0">
                <a:solidFill>
                  <a:srgbClr val="2F6FEB"/>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4041648" y="4160520"/>
            <a:ext cx="1481328" cy="868680"/>
          </a:xfrm>
          <a:prstGeom prst="roundRect">
            <a:avLst>
              <a:gd name="adj" fmla="val 7368"/>
            </a:avLst>
          </a:prstGeom>
          <a:solidFill>
            <a:srgbClr val="132A52"/>
          </a:solidFill>
          <a:ln w="12700">
            <a:solidFill>
              <a:srgbClr val="2F6FEB"/>
            </a:solidFill>
            <a:prstDash val="solid"/>
          </a:ln>
        </p:spPr>
      </p:sp>
      <p:sp>
        <p:nvSpPr>
          <p:cNvPr id="11" name="Text 9"/>
          <p:cNvSpPr/>
          <p:nvPr/>
        </p:nvSpPr>
        <p:spPr>
          <a:xfrm>
            <a:off x="4041648" y="416052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Decide</a:t>
            </a:r>
            <a:endParaRPr lang="en-US" sz="1300" dirty="0"/>
          </a:p>
        </p:txBody>
      </p:sp>
      <p:sp>
        <p:nvSpPr>
          <p:cNvPr id="12" name="Text 10"/>
          <p:cNvSpPr/>
          <p:nvPr/>
        </p:nvSpPr>
        <p:spPr>
          <a:xfrm>
            <a:off x="5522976" y="4160520"/>
            <a:ext cx="146304" cy="868680"/>
          </a:xfrm>
          <a:prstGeom prst="rect">
            <a:avLst/>
          </a:prstGeom>
          <a:noFill/>
          <a:ln/>
        </p:spPr>
        <p:txBody>
          <a:bodyPr wrap="square" lIns="0" tIns="0" rIns="0" bIns="0" rtlCol="0" anchor="ctr"/>
          <a:lstStyle/>
          <a:p>
            <a:pPr algn="ctr" indent="0" marL="0">
              <a:buNone/>
            </a:pPr>
            <a:r>
              <a:rPr lang="en-US" sz="1400" dirty="0">
                <a:solidFill>
                  <a:srgbClr val="2F6FE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5650992" y="4160520"/>
            <a:ext cx="1481328" cy="868680"/>
          </a:xfrm>
          <a:prstGeom prst="roundRect">
            <a:avLst>
              <a:gd name="adj" fmla="val 7368"/>
            </a:avLst>
          </a:prstGeom>
          <a:solidFill>
            <a:srgbClr val="132A52"/>
          </a:solidFill>
          <a:ln w="12700">
            <a:solidFill>
              <a:srgbClr val="2F6FEB"/>
            </a:solidFill>
            <a:prstDash val="solid"/>
          </a:ln>
        </p:spPr>
      </p:sp>
      <p:sp>
        <p:nvSpPr>
          <p:cNvPr id="14" name="Text 12"/>
          <p:cNvSpPr/>
          <p:nvPr/>
        </p:nvSpPr>
        <p:spPr>
          <a:xfrm>
            <a:off x="5650992" y="416052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a:t>
            </a:r>
            <a:endParaRPr lang="en-US" sz="1300" dirty="0"/>
          </a:p>
        </p:txBody>
      </p:sp>
      <p:sp>
        <p:nvSpPr>
          <p:cNvPr id="15" name="Text 13"/>
          <p:cNvSpPr/>
          <p:nvPr/>
        </p:nvSpPr>
        <p:spPr>
          <a:xfrm>
            <a:off x="7132320" y="4160520"/>
            <a:ext cx="146304" cy="868680"/>
          </a:xfrm>
          <a:prstGeom prst="rect">
            <a:avLst/>
          </a:prstGeom>
          <a:noFill/>
          <a:ln/>
        </p:spPr>
        <p:txBody>
          <a:bodyPr wrap="square" lIns="0" tIns="0" rIns="0" bIns="0" rtlCol="0" anchor="ctr"/>
          <a:lstStyle/>
          <a:p>
            <a:pPr algn="ctr" indent="0" marL="0">
              <a:buNone/>
            </a:pPr>
            <a:r>
              <a:rPr lang="en-US" sz="1400" dirty="0">
                <a:solidFill>
                  <a:srgbClr val="2F6FEB"/>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7260336" y="4160520"/>
            <a:ext cx="1481328" cy="868680"/>
          </a:xfrm>
          <a:prstGeom prst="roundRect">
            <a:avLst>
              <a:gd name="adj" fmla="val 7368"/>
            </a:avLst>
          </a:prstGeom>
          <a:solidFill>
            <a:srgbClr val="132A52"/>
          </a:solidFill>
          <a:ln w="12700">
            <a:solidFill>
              <a:srgbClr val="2F6FEB"/>
            </a:solidFill>
            <a:prstDash val="solid"/>
          </a:ln>
        </p:spPr>
      </p:sp>
      <p:sp>
        <p:nvSpPr>
          <p:cNvPr id="17" name="Text 15"/>
          <p:cNvSpPr/>
          <p:nvPr/>
        </p:nvSpPr>
        <p:spPr>
          <a:xfrm>
            <a:off x="7260336" y="416052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Verify</a:t>
            </a:r>
            <a:endParaRPr lang="en-US" sz="1300" dirty="0"/>
          </a:p>
        </p:txBody>
      </p:sp>
      <p:sp>
        <p:nvSpPr>
          <p:cNvPr id="18" name="Text 16"/>
          <p:cNvSpPr/>
          <p:nvPr/>
        </p:nvSpPr>
        <p:spPr>
          <a:xfrm>
            <a:off x="8741664" y="4160520"/>
            <a:ext cx="146304" cy="868680"/>
          </a:xfrm>
          <a:prstGeom prst="rect">
            <a:avLst/>
          </a:prstGeom>
          <a:noFill/>
          <a:ln/>
        </p:spPr>
        <p:txBody>
          <a:bodyPr wrap="square" lIns="0" tIns="0" rIns="0" bIns="0" rtlCol="0" anchor="ctr"/>
          <a:lstStyle/>
          <a:p>
            <a:pPr algn="ctr" indent="0" marL="0">
              <a:buNone/>
            </a:pPr>
            <a:r>
              <a:rPr lang="en-US" sz="1400" dirty="0">
                <a:solidFill>
                  <a:srgbClr val="2F6FEB"/>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8869680" y="4160520"/>
            <a:ext cx="1481328" cy="868680"/>
          </a:xfrm>
          <a:prstGeom prst="roundRect">
            <a:avLst>
              <a:gd name="adj" fmla="val 7368"/>
            </a:avLst>
          </a:prstGeom>
          <a:solidFill>
            <a:srgbClr val="132A52"/>
          </a:solidFill>
          <a:ln w="12700">
            <a:solidFill>
              <a:srgbClr val="2F6FEB"/>
            </a:solidFill>
            <a:prstDash val="solid"/>
          </a:ln>
        </p:spPr>
      </p:sp>
      <p:sp>
        <p:nvSpPr>
          <p:cNvPr id="20" name="Text 18"/>
          <p:cNvSpPr/>
          <p:nvPr/>
        </p:nvSpPr>
        <p:spPr>
          <a:xfrm>
            <a:off x="8869680" y="416052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Update</a:t>
            </a:r>
            <a:endParaRPr lang="en-US" sz="1300" dirty="0"/>
          </a:p>
        </p:txBody>
      </p:sp>
      <p:sp>
        <p:nvSpPr>
          <p:cNvPr id="21" name="Text 19"/>
          <p:cNvSpPr/>
          <p:nvPr/>
        </p:nvSpPr>
        <p:spPr>
          <a:xfrm>
            <a:off x="10351008" y="4160520"/>
            <a:ext cx="146304" cy="868680"/>
          </a:xfrm>
          <a:prstGeom prst="rect">
            <a:avLst/>
          </a:prstGeom>
          <a:noFill/>
          <a:ln/>
        </p:spPr>
        <p:txBody>
          <a:bodyPr wrap="square" lIns="0" tIns="0" rIns="0" bIns="0" rtlCol="0" anchor="ctr"/>
          <a:lstStyle/>
          <a:p>
            <a:pPr algn="ctr" indent="0" marL="0">
              <a:buNone/>
            </a:pPr>
            <a:r>
              <a:rPr lang="en-US" sz="1400" dirty="0">
                <a:solidFill>
                  <a:srgbClr val="2F6FEB"/>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10479024" y="4160520"/>
            <a:ext cx="1481328" cy="868680"/>
          </a:xfrm>
          <a:prstGeom prst="roundRect">
            <a:avLst>
              <a:gd name="adj" fmla="val 7368"/>
            </a:avLst>
          </a:prstGeom>
          <a:solidFill>
            <a:srgbClr val="132A52"/>
          </a:solidFill>
          <a:ln w="12700">
            <a:solidFill>
              <a:srgbClr val="2F6FEB"/>
            </a:solidFill>
            <a:prstDash val="solid"/>
          </a:ln>
        </p:spPr>
      </p:sp>
      <p:sp>
        <p:nvSpPr>
          <p:cNvPr id="23" name="Text 21"/>
          <p:cNvSpPr/>
          <p:nvPr/>
        </p:nvSpPr>
        <p:spPr>
          <a:xfrm>
            <a:off x="10479024" y="4160520"/>
            <a:ext cx="1481328"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Escalate</a:t>
            </a:r>
            <a:endParaRPr lang="en-US" sz="1300" dirty="0"/>
          </a:p>
        </p:txBody>
      </p:sp>
      <p:sp>
        <p:nvSpPr>
          <p:cNvPr id="24" name="Text 22"/>
          <p:cNvSpPr/>
          <p:nvPr/>
        </p:nvSpPr>
        <p:spPr>
          <a:xfrm>
            <a:off x="822960" y="5532120"/>
            <a:ext cx="9601200" cy="54864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Not a generic AI chatbot. The system performs meaningful operational work — it acts, then proves it acted correctly.</a:t>
            </a:r>
            <a:endParaRPr lang="en-US" sz="1400" dirty="0"/>
          </a:p>
        </p:txBody>
      </p:sp>
      <p:sp>
        <p:nvSpPr>
          <p:cNvPr id="25" name="Text 23"/>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26" name="Text 24"/>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MARKET &amp; COMPETITIVE CONTEXT</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Agentic logistics isn't a new claim — where the agent sits is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2743200"/>
        </p:xfrm>
        <a:graphic>
          <a:graphicData uri="http://schemas.openxmlformats.org/drawingml/2006/table">
            <a:tbl>
              <a:tblPr/>
              <a:tblGrid>
                <a:gridCol w="2377440"/>
                <a:gridCol w="4663440"/>
                <a:gridCol w="4023360"/>
              </a:tblGrid>
              <a:tr h="548640">
                <a:tc>
                  <a:txBody>
                    <a:bodyPr/>
                    <a:lstStyle/>
                    <a:p>
                      <a:pPr indent="0" marL="0">
                        <a:buNone/>
                      </a:pP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Core strength</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 it stops</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r>
              <a:tr h="548640">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project44 / FourKites</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Real-time visibility, predictive ETA, large network</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Tells you what's happening — not built to execute the fix</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548640">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Manhattan Associates</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Enterprise planning &amp; warehouse optimization</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Planning-cycle oriented, not a live exception-response agent</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548640">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Locus</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Last-mile route optimization &amp; dispatch</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Optimizes the plan — not exception-recovery-first</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548640">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GenAI copilots (chat)</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Natural-language Q&amp;A over TMS data</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200" dirty="0">
                          <a:solidFill>
                            <a:srgbClr val="14181F"/>
                          </a:solidFill>
                          <a:latin typeface="Calibri" pitchFamily="34" charset="0"/>
                          <a:ea typeface="Calibri" pitchFamily="34" charset="-122"/>
                          <a:cs typeface="Calibri" pitchFamily="34" charset="-120"/>
                        </a:rPr>
                        <a:t>Still requires a human to read the answer and go act on it</a:t>
                      </a:r>
                      <a:endParaRPr lang="en-US" sz="120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bl>
          </a:graphicData>
        </a:graphic>
      </p:graphicFrame>
      <p:sp>
        <p:nvSpPr>
          <p:cNvPr id="5" name="Shape 2"/>
          <p:cNvSpPr/>
          <p:nvPr/>
        </p:nvSpPr>
        <p:spPr>
          <a:xfrm>
            <a:off x="548640" y="4800600"/>
            <a:ext cx="3611880" cy="1600200"/>
          </a:xfrm>
          <a:prstGeom prst="roundRect">
            <a:avLst>
              <a:gd name="adj" fmla="val 5143"/>
            </a:avLst>
          </a:prstGeom>
          <a:solidFill>
            <a:srgbClr val="EEF3FE"/>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6" name="Text 3"/>
          <p:cNvSpPr/>
          <p:nvPr/>
        </p:nvSpPr>
        <p:spPr>
          <a:xfrm>
            <a:off x="804672" y="4956048"/>
            <a:ext cx="3108960" cy="502920"/>
          </a:xfrm>
          <a:prstGeom prst="rect">
            <a:avLst/>
          </a:prstGeom>
          <a:noFill/>
          <a:ln/>
        </p:spPr>
        <p:txBody>
          <a:bodyPr wrap="square" lIns="0" tIns="0" rIns="0" bIns="0" rtlCol="0" anchor="ctr"/>
          <a:lstStyle/>
          <a:p>
            <a:pPr indent="0" marL="0">
              <a:buNone/>
            </a:pPr>
            <a:r>
              <a:rPr lang="en-US" sz="1300" b="1" dirty="0">
                <a:solidFill>
                  <a:srgbClr val="0B1E3D"/>
                </a:solidFill>
                <a:latin typeface="Cambria" pitchFamily="34" charset="0"/>
                <a:ea typeface="Cambria" pitchFamily="34" charset="-122"/>
                <a:cs typeface="Cambria" pitchFamily="34" charset="-120"/>
              </a:rPr>
              <a:t>Execution, not explanation</a:t>
            </a:r>
            <a:endParaRPr lang="en-US" sz="1300" dirty="0"/>
          </a:p>
        </p:txBody>
      </p:sp>
      <p:sp>
        <p:nvSpPr>
          <p:cNvPr id="7" name="Text 4"/>
          <p:cNvSpPr/>
          <p:nvPr/>
        </p:nvSpPr>
        <p:spPr>
          <a:xfrm>
            <a:off x="804672" y="5394960"/>
            <a:ext cx="3108960" cy="914400"/>
          </a:xfrm>
          <a:prstGeom prst="rect">
            <a:avLst/>
          </a:prstGeom>
          <a:noFill/>
          <a:ln/>
        </p:spPr>
        <p:txBody>
          <a:bodyPr wrap="square" lIns="0" tIns="0" rIns="0" bIns="0" rtlCol="0" anchor="ctr"/>
          <a:lstStyle/>
          <a:p>
            <a:pPr indent="0" marL="0">
              <a:lnSpc>
                <a:spcPct val="115000"/>
              </a:lnSpc>
              <a:buNone/>
            </a:pPr>
            <a:r>
              <a:rPr lang="en-US" sz="1050" dirty="0">
                <a:solidFill>
                  <a:srgbClr val="5B6472"/>
                </a:solidFill>
                <a:latin typeface="Calibri" pitchFamily="34" charset="0"/>
                <a:ea typeface="Calibri" pitchFamily="34" charset="-122"/>
                <a:cs typeface="Calibri" pitchFamily="34" charset="-120"/>
              </a:rPr>
              <a:t>Ends in a typed tool call that mutates real state — not a message a human executes</a:t>
            </a:r>
            <a:endParaRPr lang="en-US" sz="1050" dirty="0"/>
          </a:p>
        </p:txBody>
      </p:sp>
      <p:sp>
        <p:nvSpPr>
          <p:cNvPr id="8" name="Shape 5"/>
          <p:cNvSpPr/>
          <p:nvPr/>
        </p:nvSpPr>
        <p:spPr>
          <a:xfrm>
            <a:off x="4343400" y="4800600"/>
            <a:ext cx="3611880" cy="1600200"/>
          </a:xfrm>
          <a:prstGeom prst="roundRect">
            <a:avLst>
              <a:gd name="adj" fmla="val 5143"/>
            </a:avLst>
          </a:prstGeom>
          <a:solidFill>
            <a:srgbClr val="EEF3FE"/>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9" name="Text 6"/>
          <p:cNvSpPr/>
          <p:nvPr/>
        </p:nvSpPr>
        <p:spPr>
          <a:xfrm>
            <a:off x="4599432" y="4956048"/>
            <a:ext cx="3108960" cy="502920"/>
          </a:xfrm>
          <a:prstGeom prst="rect">
            <a:avLst/>
          </a:prstGeom>
          <a:noFill/>
          <a:ln/>
        </p:spPr>
        <p:txBody>
          <a:bodyPr wrap="square" lIns="0" tIns="0" rIns="0" bIns="0" rtlCol="0" anchor="ctr"/>
          <a:lstStyle/>
          <a:p>
            <a:pPr indent="0" marL="0">
              <a:buNone/>
            </a:pPr>
            <a:r>
              <a:rPr lang="en-US" sz="1300" b="1" dirty="0">
                <a:solidFill>
                  <a:srgbClr val="0B1E3D"/>
                </a:solidFill>
                <a:latin typeface="Cambria" pitchFamily="34" charset="0"/>
                <a:ea typeface="Cambria" pitchFamily="34" charset="-122"/>
                <a:cs typeface="Cambria" pitchFamily="34" charset="-120"/>
              </a:rPr>
              <a:t>Governed autonomy as a product surface</a:t>
            </a:r>
            <a:endParaRPr lang="en-US" sz="1300" dirty="0"/>
          </a:p>
        </p:txBody>
      </p:sp>
      <p:sp>
        <p:nvSpPr>
          <p:cNvPr id="10" name="Text 7"/>
          <p:cNvSpPr/>
          <p:nvPr/>
        </p:nvSpPr>
        <p:spPr>
          <a:xfrm>
            <a:off x="4599432" y="5394960"/>
            <a:ext cx="3108960" cy="914400"/>
          </a:xfrm>
          <a:prstGeom prst="rect">
            <a:avLst/>
          </a:prstGeom>
          <a:noFill/>
          <a:ln/>
        </p:spPr>
        <p:txBody>
          <a:bodyPr wrap="square" lIns="0" tIns="0" rIns="0" bIns="0" rtlCol="0" anchor="ctr"/>
          <a:lstStyle/>
          <a:p>
            <a:pPr indent="0" marL="0">
              <a:lnSpc>
                <a:spcPct val="115000"/>
              </a:lnSpc>
              <a:buNone/>
            </a:pPr>
            <a:r>
              <a:rPr lang="en-US" sz="1050" dirty="0">
                <a:solidFill>
                  <a:srgbClr val="5B6472"/>
                </a:solidFill>
                <a:latin typeface="Calibri" pitchFamily="34" charset="0"/>
                <a:ea typeface="Calibri" pitchFamily="34" charset="-122"/>
                <a:cs typeface="Calibri" pitchFamily="34" charset="-120"/>
              </a:rPr>
              <a:t>Per-action autonomy + cost thresholds, visible and editable — not a hidden parameter</a:t>
            </a:r>
            <a:endParaRPr lang="en-US" sz="1050" dirty="0"/>
          </a:p>
        </p:txBody>
      </p:sp>
      <p:sp>
        <p:nvSpPr>
          <p:cNvPr id="11" name="Shape 8"/>
          <p:cNvSpPr/>
          <p:nvPr/>
        </p:nvSpPr>
        <p:spPr>
          <a:xfrm>
            <a:off x="8138160" y="4800600"/>
            <a:ext cx="3611880" cy="1600200"/>
          </a:xfrm>
          <a:prstGeom prst="roundRect">
            <a:avLst>
              <a:gd name="adj" fmla="val 5143"/>
            </a:avLst>
          </a:prstGeom>
          <a:solidFill>
            <a:srgbClr val="EEF3FE"/>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2" name="Text 9"/>
          <p:cNvSpPr/>
          <p:nvPr/>
        </p:nvSpPr>
        <p:spPr>
          <a:xfrm>
            <a:off x="8394192" y="4956048"/>
            <a:ext cx="3108960" cy="502920"/>
          </a:xfrm>
          <a:prstGeom prst="rect">
            <a:avLst/>
          </a:prstGeom>
          <a:noFill/>
          <a:ln/>
        </p:spPr>
        <p:txBody>
          <a:bodyPr wrap="square" lIns="0" tIns="0" rIns="0" bIns="0" rtlCol="0" anchor="ctr"/>
          <a:lstStyle/>
          <a:p>
            <a:pPr indent="0" marL="0">
              <a:buNone/>
            </a:pPr>
            <a:r>
              <a:rPr lang="en-US" sz="1300" b="1" dirty="0">
                <a:solidFill>
                  <a:srgbClr val="0B1E3D"/>
                </a:solidFill>
                <a:latin typeface="Cambria" pitchFamily="34" charset="0"/>
                <a:ea typeface="Cambria" pitchFamily="34" charset="-122"/>
                <a:cs typeface="Cambria" pitchFamily="34" charset="-120"/>
              </a:rPr>
              <a:t>Sized for the underserved middle</a:t>
            </a:r>
            <a:endParaRPr lang="en-US" sz="1300" dirty="0"/>
          </a:p>
        </p:txBody>
      </p:sp>
      <p:sp>
        <p:nvSpPr>
          <p:cNvPr id="13" name="Text 10"/>
          <p:cNvSpPr/>
          <p:nvPr/>
        </p:nvSpPr>
        <p:spPr>
          <a:xfrm>
            <a:off x="8394192" y="5394960"/>
            <a:ext cx="3108960" cy="914400"/>
          </a:xfrm>
          <a:prstGeom prst="rect">
            <a:avLst/>
          </a:prstGeom>
          <a:noFill/>
          <a:ln/>
        </p:spPr>
        <p:txBody>
          <a:bodyPr wrap="square" lIns="0" tIns="0" rIns="0" bIns="0" rtlCol="0" anchor="ctr"/>
          <a:lstStyle/>
          <a:p>
            <a:pPr indent="0" marL="0">
              <a:lnSpc>
                <a:spcPct val="115000"/>
              </a:lnSpc>
              <a:buNone/>
            </a:pPr>
            <a:r>
              <a:rPr lang="en-US" sz="1050" dirty="0">
                <a:solidFill>
                  <a:srgbClr val="5B6472"/>
                </a:solidFill>
                <a:latin typeface="Calibri" pitchFamily="34" charset="0"/>
                <a:ea typeface="Calibri" pitchFamily="34" charset="-122"/>
                <a:cs typeface="Calibri" pitchFamily="34" charset="-120"/>
              </a:rPr>
              <a:t>20–200 loads/day operators choosing between no software and over-built enterprise software</a:t>
            </a:r>
            <a:endParaRPr lang="en-US" sz="1050" dirty="0"/>
          </a:p>
        </p:txBody>
      </p:sp>
      <p:sp>
        <p:nvSpPr>
          <p:cNvPr id="14" name="Text 11"/>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15" name="Text 12"/>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PRODUCT EXPERIENCE</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A live operations dashboard, not a demo skin</a:t>
            </a:r>
            <a:endParaRPr lang="en-US" sz="3000" dirty="0"/>
          </a:p>
        </p:txBody>
      </p:sp>
      <p:sp>
        <p:nvSpPr>
          <p:cNvPr id="4" name="Shape 2"/>
          <p:cNvSpPr/>
          <p:nvPr/>
        </p:nvSpPr>
        <p:spPr>
          <a:xfrm>
            <a:off x="548640" y="1783080"/>
            <a:ext cx="6858000" cy="4251960"/>
          </a:xfrm>
          <a:prstGeom prst="roundRect">
            <a:avLst>
              <a:gd name="adj" fmla="val 1935"/>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pic>
        <p:nvPicPr>
          <p:cNvPr id="5" name="Image 0" descr="/tmp/deck-02-command-center-after.png">    </p:cNvPr>
          <p:cNvPicPr>
            <a:picLocks noChangeAspect="1"/>
          </p:cNvPicPr>
          <p:nvPr/>
        </p:nvPicPr>
        <p:blipFill>
          <a:blip r:embed="rId1"/>
          <a:srcRect l="0" r="0" t="0" b="0"/>
          <a:stretch/>
        </p:blipFill>
        <p:spPr>
          <a:xfrm>
            <a:off x="594360" y="1828800"/>
            <a:ext cx="6766560" cy="4160520"/>
          </a:xfrm>
          <a:prstGeom prst="rect">
            <a:avLst/>
          </a:prstGeom>
        </p:spPr>
      </p:pic>
      <p:sp>
        <p:nvSpPr>
          <p:cNvPr id="6" name="Text 3"/>
          <p:cNvSpPr/>
          <p:nvPr/>
        </p:nvSpPr>
        <p:spPr>
          <a:xfrm>
            <a:off x="548640" y="6108192"/>
            <a:ext cx="6858000" cy="27432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Command Center — live KPIs, route map, agent activity</a:t>
            </a:r>
            <a:endParaRPr lang="en-US" sz="1050" dirty="0"/>
          </a:p>
        </p:txBody>
      </p:sp>
      <p:sp>
        <p:nvSpPr>
          <p:cNvPr id="7" name="Shape 4"/>
          <p:cNvSpPr/>
          <p:nvPr/>
        </p:nvSpPr>
        <p:spPr>
          <a:xfrm>
            <a:off x="7635240" y="1828800"/>
            <a:ext cx="3977640" cy="566928"/>
          </a:xfrm>
          <a:prstGeom prst="roundRect">
            <a:avLst>
              <a:gd name="adj" fmla="val 12903"/>
            </a:avLst>
          </a:prstGeom>
          <a:solidFill>
            <a:srgbClr val="FFFFFF"/>
          </a:solidFill>
          <a:ln w="12700">
            <a:solidFill>
              <a:srgbClr val="E2E5EA"/>
            </a:solidFill>
            <a:prstDash val="solid"/>
          </a:ln>
        </p:spPr>
      </p:sp>
      <p:sp>
        <p:nvSpPr>
          <p:cNvPr id="8" name="Shape 5"/>
          <p:cNvSpPr/>
          <p:nvPr/>
        </p:nvSpPr>
        <p:spPr>
          <a:xfrm>
            <a:off x="7818120" y="1975104"/>
            <a:ext cx="274320" cy="274320"/>
          </a:xfrm>
          <a:prstGeom prst="ellipse">
            <a:avLst/>
          </a:prstGeom>
          <a:solidFill>
            <a:srgbClr val="2F6FEB"/>
          </a:solidFill>
          <a:ln/>
        </p:spPr>
      </p:sp>
      <p:sp>
        <p:nvSpPr>
          <p:cNvPr id="9" name="Text 6"/>
          <p:cNvSpPr/>
          <p:nvPr/>
        </p:nvSpPr>
        <p:spPr>
          <a:xfrm>
            <a:off x="8229600" y="1828800"/>
            <a:ext cx="3291840" cy="56692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Command Center</a:t>
            </a:r>
            <a:endParaRPr lang="en-US" sz="1300" dirty="0"/>
          </a:p>
        </p:txBody>
      </p:sp>
      <p:sp>
        <p:nvSpPr>
          <p:cNvPr id="10" name="Shape 7"/>
          <p:cNvSpPr/>
          <p:nvPr/>
        </p:nvSpPr>
        <p:spPr>
          <a:xfrm>
            <a:off x="7635240" y="2523744"/>
            <a:ext cx="3977640" cy="566928"/>
          </a:xfrm>
          <a:prstGeom prst="roundRect">
            <a:avLst>
              <a:gd name="adj" fmla="val 12903"/>
            </a:avLst>
          </a:prstGeom>
          <a:solidFill>
            <a:srgbClr val="FFFFFF"/>
          </a:solidFill>
          <a:ln w="12700">
            <a:solidFill>
              <a:srgbClr val="E2E5EA"/>
            </a:solidFill>
            <a:prstDash val="solid"/>
          </a:ln>
        </p:spPr>
      </p:sp>
      <p:sp>
        <p:nvSpPr>
          <p:cNvPr id="11" name="Shape 8"/>
          <p:cNvSpPr/>
          <p:nvPr/>
        </p:nvSpPr>
        <p:spPr>
          <a:xfrm>
            <a:off x="7818120" y="2670048"/>
            <a:ext cx="274320" cy="274320"/>
          </a:xfrm>
          <a:prstGeom prst="ellipse">
            <a:avLst/>
          </a:prstGeom>
          <a:solidFill>
            <a:srgbClr val="2F6FEB"/>
          </a:solidFill>
          <a:ln/>
        </p:spPr>
      </p:sp>
      <p:sp>
        <p:nvSpPr>
          <p:cNvPr id="12" name="Text 9"/>
          <p:cNvSpPr/>
          <p:nvPr/>
        </p:nvSpPr>
        <p:spPr>
          <a:xfrm>
            <a:off x="8229600" y="2523744"/>
            <a:ext cx="3291840" cy="56692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Exception Queue</a:t>
            </a:r>
            <a:endParaRPr lang="en-US" sz="1300" dirty="0"/>
          </a:p>
        </p:txBody>
      </p:sp>
      <p:sp>
        <p:nvSpPr>
          <p:cNvPr id="13" name="Shape 10"/>
          <p:cNvSpPr/>
          <p:nvPr/>
        </p:nvSpPr>
        <p:spPr>
          <a:xfrm>
            <a:off x="7635240" y="3218688"/>
            <a:ext cx="3977640" cy="566928"/>
          </a:xfrm>
          <a:prstGeom prst="roundRect">
            <a:avLst>
              <a:gd name="adj" fmla="val 12903"/>
            </a:avLst>
          </a:prstGeom>
          <a:solidFill>
            <a:srgbClr val="FFFFFF"/>
          </a:solidFill>
          <a:ln w="12700">
            <a:solidFill>
              <a:srgbClr val="E2E5EA"/>
            </a:solidFill>
            <a:prstDash val="solid"/>
          </a:ln>
        </p:spPr>
      </p:sp>
      <p:sp>
        <p:nvSpPr>
          <p:cNvPr id="14" name="Shape 11"/>
          <p:cNvSpPr/>
          <p:nvPr/>
        </p:nvSpPr>
        <p:spPr>
          <a:xfrm>
            <a:off x="7818120" y="3364992"/>
            <a:ext cx="274320" cy="274320"/>
          </a:xfrm>
          <a:prstGeom prst="ellipse">
            <a:avLst/>
          </a:prstGeom>
          <a:solidFill>
            <a:srgbClr val="2F6FEB"/>
          </a:solidFill>
          <a:ln/>
        </p:spPr>
      </p:sp>
      <p:sp>
        <p:nvSpPr>
          <p:cNvPr id="15" name="Text 12"/>
          <p:cNvSpPr/>
          <p:nvPr/>
        </p:nvSpPr>
        <p:spPr>
          <a:xfrm>
            <a:off x="8229600" y="3218688"/>
            <a:ext cx="3291840" cy="56692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Shipments</a:t>
            </a:r>
            <a:endParaRPr lang="en-US" sz="1300" dirty="0"/>
          </a:p>
        </p:txBody>
      </p:sp>
      <p:sp>
        <p:nvSpPr>
          <p:cNvPr id="16" name="Shape 13"/>
          <p:cNvSpPr/>
          <p:nvPr/>
        </p:nvSpPr>
        <p:spPr>
          <a:xfrm>
            <a:off x="7635240" y="3913632"/>
            <a:ext cx="3977640" cy="566928"/>
          </a:xfrm>
          <a:prstGeom prst="roundRect">
            <a:avLst>
              <a:gd name="adj" fmla="val 12903"/>
            </a:avLst>
          </a:prstGeom>
          <a:solidFill>
            <a:srgbClr val="FFFFFF"/>
          </a:solidFill>
          <a:ln w="12700">
            <a:solidFill>
              <a:srgbClr val="E2E5EA"/>
            </a:solidFill>
            <a:prstDash val="solid"/>
          </a:ln>
        </p:spPr>
      </p:sp>
      <p:sp>
        <p:nvSpPr>
          <p:cNvPr id="17" name="Shape 14"/>
          <p:cNvSpPr/>
          <p:nvPr/>
        </p:nvSpPr>
        <p:spPr>
          <a:xfrm>
            <a:off x="7818120" y="4059936"/>
            <a:ext cx="274320" cy="274320"/>
          </a:xfrm>
          <a:prstGeom prst="ellipse">
            <a:avLst/>
          </a:prstGeom>
          <a:solidFill>
            <a:srgbClr val="2F6FEB"/>
          </a:solidFill>
          <a:ln/>
        </p:spPr>
      </p:sp>
      <p:sp>
        <p:nvSpPr>
          <p:cNvPr id="18" name="Text 15"/>
          <p:cNvSpPr/>
          <p:nvPr/>
        </p:nvSpPr>
        <p:spPr>
          <a:xfrm>
            <a:off x="8229600" y="3913632"/>
            <a:ext cx="3291840" cy="56692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Agent Activity</a:t>
            </a:r>
            <a:endParaRPr lang="en-US" sz="1300" dirty="0"/>
          </a:p>
        </p:txBody>
      </p:sp>
      <p:sp>
        <p:nvSpPr>
          <p:cNvPr id="19" name="Shape 16"/>
          <p:cNvSpPr/>
          <p:nvPr/>
        </p:nvSpPr>
        <p:spPr>
          <a:xfrm>
            <a:off x="7635240" y="4608576"/>
            <a:ext cx="3977640" cy="566928"/>
          </a:xfrm>
          <a:prstGeom prst="roundRect">
            <a:avLst>
              <a:gd name="adj" fmla="val 12903"/>
            </a:avLst>
          </a:prstGeom>
          <a:solidFill>
            <a:srgbClr val="FFFFFF"/>
          </a:solidFill>
          <a:ln w="12700">
            <a:solidFill>
              <a:srgbClr val="E2E5EA"/>
            </a:solidFill>
            <a:prstDash val="solid"/>
          </a:ln>
        </p:spPr>
      </p:sp>
      <p:sp>
        <p:nvSpPr>
          <p:cNvPr id="20" name="Shape 17"/>
          <p:cNvSpPr/>
          <p:nvPr/>
        </p:nvSpPr>
        <p:spPr>
          <a:xfrm>
            <a:off x="7818120" y="4754880"/>
            <a:ext cx="274320" cy="274320"/>
          </a:xfrm>
          <a:prstGeom prst="ellipse">
            <a:avLst/>
          </a:prstGeom>
          <a:solidFill>
            <a:srgbClr val="2F6FEB"/>
          </a:solidFill>
          <a:ln/>
        </p:spPr>
      </p:sp>
      <p:sp>
        <p:nvSpPr>
          <p:cNvPr id="21" name="Text 18"/>
          <p:cNvSpPr/>
          <p:nvPr/>
        </p:nvSpPr>
        <p:spPr>
          <a:xfrm>
            <a:off x="8229600" y="4608576"/>
            <a:ext cx="3291840" cy="56692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Approvals</a:t>
            </a:r>
            <a:endParaRPr lang="en-US" sz="1300" dirty="0"/>
          </a:p>
        </p:txBody>
      </p:sp>
      <p:sp>
        <p:nvSpPr>
          <p:cNvPr id="22" name="Shape 19"/>
          <p:cNvSpPr/>
          <p:nvPr/>
        </p:nvSpPr>
        <p:spPr>
          <a:xfrm>
            <a:off x="7635240" y="5303520"/>
            <a:ext cx="3977640" cy="566928"/>
          </a:xfrm>
          <a:prstGeom prst="roundRect">
            <a:avLst>
              <a:gd name="adj" fmla="val 12903"/>
            </a:avLst>
          </a:prstGeom>
          <a:solidFill>
            <a:srgbClr val="FFFFFF"/>
          </a:solidFill>
          <a:ln w="12700">
            <a:solidFill>
              <a:srgbClr val="E2E5EA"/>
            </a:solidFill>
            <a:prstDash val="solid"/>
          </a:ln>
        </p:spPr>
      </p:sp>
      <p:sp>
        <p:nvSpPr>
          <p:cNvPr id="23" name="Shape 20"/>
          <p:cNvSpPr/>
          <p:nvPr/>
        </p:nvSpPr>
        <p:spPr>
          <a:xfrm>
            <a:off x="7818120" y="5449824"/>
            <a:ext cx="274320" cy="274320"/>
          </a:xfrm>
          <a:prstGeom prst="ellipse">
            <a:avLst/>
          </a:prstGeom>
          <a:solidFill>
            <a:srgbClr val="2F6FEB"/>
          </a:solidFill>
          <a:ln/>
        </p:spPr>
      </p:sp>
      <p:sp>
        <p:nvSpPr>
          <p:cNvPr id="24" name="Text 21"/>
          <p:cNvSpPr/>
          <p:nvPr/>
        </p:nvSpPr>
        <p:spPr>
          <a:xfrm>
            <a:off x="8229600" y="5303520"/>
            <a:ext cx="3291840" cy="56692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Policy Config</a:t>
            </a:r>
            <a:endParaRPr lang="en-US" sz="1300" dirty="0"/>
          </a:p>
        </p:txBody>
      </p:sp>
      <p:sp>
        <p:nvSpPr>
          <p:cNvPr id="25" name="Text 22"/>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26" name="Text 23"/>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TOP 3 AGENTIC FUNCTIONS</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Three differentiated agents, cooperating on one timeline</a:t>
            </a:r>
            <a:endParaRPr lang="en-US" sz="3000" dirty="0"/>
          </a:p>
        </p:txBody>
      </p:sp>
      <p:sp>
        <p:nvSpPr>
          <p:cNvPr id="4" name="Shape 2"/>
          <p:cNvSpPr/>
          <p:nvPr/>
        </p:nvSpPr>
        <p:spPr>
          <a:xfrm>
            <a:off x="548640" y="1828800"/>
            <a:ext cx="3630168" cy="4434840"/>
          </a:xfrm>
          <a:prstGeom prst="roundRect">
            <a:avLst>
              <a:gd name="adj" fmla="val 2267"/>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5" name="Text 3"/>
          <p:cNvSpPr/>
          <p:nvPr/>
        </p:nvSpPr>
        <p:spPr>
          <a:xfrm>
            <a:off x="804672" y="2011680"/>
            <a:ext cx="1371600" cy="548640"/>
          </a:xfrm>
          <a:prstGeom prst="rect">
            <a:avLst/>
          </a:prstGeom>
          <a:noFill/>
          <a:ln/>
        </p:spPr>
        <p:txBody>
          <a:bodyPr wrap="square" lIns="0" tIns="0" rIns="0" bIns="0" rtlCol="0" anchor="ctr"/>
          <a:lstStyle/>
          <a:p>
            <a:pPr indent="0" marL="0">
              <a:buNone/>
            </a:pPr>
            <a:r>
              <a:rPr lang="en-US" sz="3000" b="1" dirty="0">
                <a:solidFill>
                  <a:srgbClr val="E2E5EA"/>
                </a:solidFill>
                <a:latin typeface="Cambria" pitchFamily="34" charset="0"/>
                <a:ea typeface="Cambria" pitchFamily="34" charset="-122"/>
                <a:cs typeface="Cambria" pitchFamily="34" charset="-120"/>
              </a:rPr>
              <a:t>01</a:t>
            </a:r>
            <a:endParaRPr lang="en-US" sz="3000" dirty="0"/>
          </a:p>
        </p:txBody>
      </p:sp>
      <p:sp>
        <p:nvSpPr>
          <p:cNvPr id="6" name="Shape 4"/>
          <p:cNvSpPr/>
          <p:nvPr/>
        </p:nvSpPr>
        <p:spPr>
          <a:xfrm>
            <a:off x="804672" y="2542032"/>
            <a:ext cx="1737360" cy="292608"/>
          </a:xfrm>
          <a:prstGeom prst="roundRect">
            <a:avLst>
              <a:gd name="adj" fmla="val 50000"/>
            </a:avLst>
          </a:prstGeom>
          <a:solidFill>
            <a:srgbClr val="2F6FEB"/>
          </a:solidFill>
          <a:ln/>
        </p:spPr>
      </p:sp>
      <p:sp>
        <p:nvSpPr>
          <p:cNvPr id="7" name="Text 5"/>
          <p:cNvSpPr/>
          <p:nvPr/>
        </p:nvSpPr>
        <p:spPr>
          <a:xfrm>
            <a:off x="804672" y="2542032"/>
            <a:ext cx="1737360" cy="292608"/>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HERO AGENT</a:t>
            </a:r>
            <a:endParaRPr lang="en-US" sz="850" dirty="0"/>
          </a:p>
        </p:txBody>
      </p:sp>
      <p:sp>
        <p:nvSpPr>
          <p:cNvPr id="8" name="Text 6"/>
          <p:cNvSpPr/>
          <p:nvPr/>
        </p:nvSpPr>
        <p:spPr>
          <a:xfrm>
            <a:off x="804672" y="2971800"/>
            <a:ext cx="3154680" cy="685800"/>
          </a:xfrm>
          <a:prstGeom prst="rect">
            <a:avLst/>
          </a:prstGeom>
          <a:noFill/>
          <a:ln/>
        </p:spPr>
        <p:txBody>
          <a:bodyPr wrap="square" lIns="0" tIns="0" rIns="0" bIns="0" rtlCol="0" anchor="ctr"/>
          <a:lstStyle/>
          <a:p>
            <a:pPr indent="0" marL="0">
              <a:buNone/>
            </a:pPr>
            <a:r>
              <a:rPr lang="en-US" sz="1600" b="1" dirty="0">
                <a:solidFill>
                  <a:srgbClr val="0B1E3D"/>
                </a:solidFill>
                <a:latin typeface="Cambria" pitchFamily="34" charset="0"/>
                <a:ea typeface="Cambria" pitchFamily="34" charset="-122"/>
                <a:cs typeface="Cambria" pitchFamily="34" charset="-120"/>
              </a:rPr>
              <a:t>Exception Recovery Agent</a:t>
            </a:r>
            <a:endParaRPr lang="en-US" sz="1600" dirty="0"/>
          </a:p>
        </p:txBody>
      </p:sp>
      <p:sp>
        <p:nvSpPr>
          <p:cNvPr id="9" name="Text 7"/>
          <p:cNvSpPr/>
          <p:nvPr/>
        </p:nvSpPr>
        <p:spPr>
          <a:xfrm>
            <a:off x="804672" y="3657600"/>
            <a:ext cx="3154680" cy="960120"/>
          </a:xfrm>
          <a:prstGeom prst="rect">
            <a:avLst/>
          </a:prstGeom>
          <a:noFill/>
          <a:ln/>
        </p:spPr>
        <p:txBody>
          <a:bodyPr wrap="square" lIns="0" tIns="0" rIns="0" bIns="0" rtlCol="0" anchor="ctr"/>
          <a:lstStyle/>
          <a:p>
            <a:pPr indent="0" marL="0">
              <a:lnSpc>
                <a:spcPct val="120000"/>
              </a:lnSpc>
              <a:buNone/>
            </a:pPr>
            <a:r>
              <a:rPr lang="en-US" sz="1050" dirty="0">
                <a:solidFill>
                  <a:srgbClr val="5B6472"/>
                </a:solidFill>
                <a:latin typeface="Calibri" pitchFamily="34" charset="0"/>
                <a:ea typeface="Calibri" pitchFamily="34" charset="-122"/>
                <a:cs typeface="Calibri" pitchFamily="34" charset="-120"/>
              </a:rPr>
              <a:t>Detects delays, ETA violations, missed windows, vehicle failures, appointment conflicts, and route disruptions.</a:t>
            </a:r>
            <a:endParaRPr lang="en-US" sz="1050" dirty="0"/>
          </a:p>
        </p:txBody>
      </p:sp>
      <p:sp>
        <p:nvSpPr>
          <p:cNvPr id="10" name="Text 8"/>
          <p:cNvSpPr/>
          <p:nvPr/>
        </p:nvSpPr>
        <p:spPr>
          <a:xfrm>
            <a:off x="804672" y="4709160"/>
            <a:ext cx="3154680" cy="1417320"/>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Generates &amp; scores recovery options</a:t>
            </a:r>
            <a:endParaRPr lang="en-US" sz="1000" dirty="0"/>
          </a:p>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Executes within policy or requests approval</a:t>
            </a:r>
            <a:endParaRPr lang="en-US" sz="1000" dirty="0"/>
          </a:p>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Verifies outcome, retries or escalates on failure</a:t>
            </a:r>
            <a:endParaRPr lang="en-US" sz="1000" dirty="0"/>
          </a:p>
        </p:txBody>
      </p:sp>
      <p:sp>
        <p:nvSpPr>
          <p:cNvPr id="11" name="Shape 9"/>
          <p:cNvSpPr/>
          <p:nvPr/>
        </p:nvSpPr>
        <p:spPr>
          <a:xfrm>
            <a:off x="4361688" y="1828800"/>
            <a:ext cx="3630168" cy="4434840"/>
          </a:xfrm>
          <a:prstGeom prst="roundRect">
            <a:avLst>
              <a:gd name="adj" fmla="val 2267"/>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2" name="Text 10"/>
          <p:cNvSpPr/>
          <p:nvPr/>
        </p:nvSpPr>
        <p:spPr>
          <a:xfrm>
            <a:off x="4617720" y="2011680"/>
            <a:ext cx="1371600" cy="548640"/>
          </a:xfrm>
          <a:prstGeom prst="rect">
            <a:avLst/>
          </a:prstGeom>
          <a:noFill/>
          <a:ln/>
        </p:spPr>
        <p:txBody>
          <a:bodyPr wrap="square" lIns="0" tIns="0" rIns="0" bIns="0" rtlCol="0" anchor="ctr"/>
          <a:lstStyle/>
          <a:p>
            <a:pPr indent="0" marL="0">
              <a:buNone/>
            </a:pPr>
            <a:r>
              <a:rPr lang="en-US" sz="3000" b="1" dirty="0">
                <a:solidFill>
                  <a:srgbClr val="E2E5EA"/>
                </a:solidFill>
                <a:latin typeface="Cambria" pitchFamily="34" charset="0"/>
                <a:ea typeface="Cambria" pitchFamily="34" charset="-122"/>
                <a:cs typeface="Cambria" pitchFamily="34" charset="-120"/>
              </a:rPr>
              <a:t>02</a:t>
            </a:r>
            <a:endParaRPr lang="en-US" sz="3000" dirty="0"/>
          </a:p>
        </p:txBody>
      </p:sp>
      <p:sp>
        <p:nvSpPr>
          <p:cNvPr id="13" name="Shape 11"/>
          <p:cNvSpPr/>
          <p:nvPr/>
        </p:nvSpPr>
        <p:spPr>
          <a:xfrm>
            <a:off x="4617720" y="2542032"/>
            <a:ext cx="1737360" cy="292608"/>
          </a:xfrm>
          <a:prstGeom prst="roundRect">
            <a:avLst>
              <a:gd name="adj" fmla="val 50000"/>
            </a:avLst>
          </a:prstGeom>
          <a:solidFill>
            <a:srgbClr val="17845A"/>
          </a:solidFill>
          <a:ln/>
        </p:spPr>
      </p:sp>
      <p:sp>
        <p:nvSpPr>
          <p:cNvPr id="14" name="Text 12"/>
          <p:cNvSpPr/>
          <p:nvPr/>
        </p:nvSpPr>
        <p:spPr>
          <a:xfrm>
            <a:off x="4617720" y="2542032"/>
            <a:ext cx="1737360" cy="292608"/>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STANDING CHECK</a:t>
            </a:r>
            <a:endParaRPr lang="en-US" sz="850" dirty="0"/>
          </a:p>
        </p:txBody>
      </p:sp>
      <p:sp>
        <p:nvSpPr>
          <p:cNvPr id="15" name="Text 13"/>
          <p:cNvSpPr/>
          <p:nvPr/>
        </p:nvSpPr>
        <p:spPr>
          <a:xfrm>
            <a:off x="4617720" y="2971800"/>
            <a:ext cx="3154680" cy="685800"/>
          </a:xfrm>
          <a:prstGeom prst="rect">
            <a:avLst/>
          </a:prstGeom>
          <a:noFill/>
          <a:ln/>
        </p:spPr>
        <p:txBody>
          <a:bodyPr wrap="square" lIns="0" tIns="0" rIns="0" bIns="0" rtlCol="0" anchor="ctr"/>
          <a:lstStyle/>
          <a:p>
            <a:pPr indent="0" marL="0">
              <a:buNone/>
            </a:pPr>
            <a:r>
              <a:rPr lang="en-US" sz="1600" b="1" dirty="0">
                <a:solidFill>
                  <a:srgbClr val="0B1E3D"/>
                </a:solidFill>
                <a:latin typeface="Cambria" pitchFamily="34" charset="0"/>
                <a:ea typeface="Cambria" pitchFamily="34" charset="-122"/>
                <a:cs typeface="Cambria" pitchFamily="34" charset="-120"/>
              </a:rPr>
              <a:t>Dynamic Dispatch Agent</a:t>
            </a:r>
            <a:endParaRPr lang="en-US" sz="1600" dirty="0"/>
          </a:p>
        </p:txBody>
      </p:sp>
      <p:sp>
        <p:nvSpPr>
          <p:cNvPr id="16" name="Text 14"/>
          <p:cNvSpPr/>
          <p:nvPr/>
        </p:nvSpPr>
        <p:spPr>
          <a:xfrm>
            <a:off x="4617720" y="3657600"/>
            <a:ext cx="3154680" cy="960120"/>
          </a:xfrm>
          <a:prstGeom prst="rect">
            <a:avLst/>
          </a:prstGeom>
          <a:noFill/>
          <a:ln/>
        </p:spPr>
        <p:txBody>
          <a:bodyPr wrap="square" lIns="0" tIns="0" rIns="0" bIns="0" rtlCol="0" anchor="ctr"/>
          <a:lstStyle/>
          <a:p>
            <a:pPr indent="0" marL="0">
              <a:lnSpc>
                <a:spcPct val="120000"/>
              </a:lnSpc>
              <a:buNone/>
            </a:pPr>
            <a:r>
              <a:rPr lang="en-US" sz="1050" dirty="0">
                <a:solidFill>
                  <a:srgbClr val="5B6472"/>
                </a:solidFill>
                <a:latin typeface="Calibri" pitchFamily="34" charset="0"/>
                <a:ea typeface="Calibri" pitchFamily="34" charset="-122"/>
                <a:cs typeface="Calibri" pitchFamily="34" charset="-120"/>
              </a:rPr>
              <a:t>Continuously evaluates whether the current driver/vehicle assignment for each active shipment still holds up.</a:t>
            </a:r>
            <a:endParaRPr lang="en-US" sz="1050" dirty="0"/>
          </a:p>
        </p:txBody>
      </p:sp>
      <p:sp>
        <p:nvSpPr>
          <p:cNvPr id="17" name="Text 15"/>
          <p:cNvSpPr/>
          <p:nvPr/>
        </p:nvSpPr>
        <p:spPr>
          <a:xfrm>
            <a:off x="4617720" y="4709160"/>
            <a:ext cx="3154680" cy="1417320"/>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Checks hours-of-service &amp; availability</a:t>
            </a:r>
            <a:endParaRPr lang="en-US" sz="1000" dirty="0"/>
          </a:p>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Proposes reassignment, reordering, or route adjustment</a:t>
            </a:r>
            <a:endParaRPr lang="en-US" sz="1000" dirty="0"/>
          </a:p>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Reassignment always gated to human approval</a:t>
            </a:r>
            <a:endParaRPr lang="en-US" sz="1000" dirty="0"/>
          </a:p>
        </p:txBody>
      </p:sp>
      <p:sp>
        <p:nvSpPr>
          <p:cNvPr id="18" name="Shape 16"/>
          <p:cNvSpPr/>
          <p:nvPr/>
        </p:nvSpPr>
        <p:spPr>
          <a:xfrm>
            <a:off x="8174736" y="1828800"/>
            <a:ext cx="3630168" cy="4434840"/>
          </a:xfrm>
          <a:prstGeom prst="roundRect">
            <a:avLst>
              <a:gd name="adj" fmla="val 2267"/>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9" name="Text 17"/>
          <p:cNvSpPr/>
          <p:nvPr/>
        </p:nvSpPr>
        <p:spPr>
          <a:xfrm>
            <a:off x="8430768" y="2011680"/>
            <a:ext cx="1371600" cy="548640"/>
          </a:xfrm>
          <a:prstGeom prst="rect">
            <a:avLst/>
          </a:prstGeom>
          <a:noFill/>
          <a:ln/>
        </p:spPr>
        <p:txBody>
          <a:bodyPr wrap="square" lIns="0" tIns="0" rIns="0" bIns="0" rtlCol="0" anchor="ctr"/>
          <a:lstStyle/>
          <a:p>
            <a:pPr indent="0" marL="0">
              <a:buNone/>
            </a:pPr>
            <a:r>
              <a:rPr lang="en-US" sz="3000" b="1" dirty="0">
                <a:solidFill>
                  <a:srgbClr val="E2E5EA"/>
                </a:solidFill>
                <a:latin typeface="Cambria" pitchFamily="34" charset="0"/>
                <a:ea typeface="Cambria" pitchFamily="34" charset="-122"/>
                <a:cs typeface="Cambria" pitchFamily="34" charset="-120"/>
              </a:rPr>
              <a:t>03</a:t>
            </a:r>
            <a:endParaRPr lang="en-US" sz="3000" dirty="0"/>
          </a:p>
        </p:txBody>
      </p:sp>
      <p:sp>
        <p:nvSpPr>
          <p:cNvPr id="20" name="Shape 18"/>
          <p:cNvSpPr/>
          <p:nvPr/>
        </p:nvSpPr>
        <p:spPr>
          <a:xfrm>
            <a:off x="8430768" y="2542032"/>
            <a:ext cx="1737360" cy="292608"/>
          </a:xfrm>
          <a:prstGeom prst="roundRect">
            <a:avLst>
              <a:gd name="adj" fmla="val 50000"/>
            </a:avLst>
          </a:prstGeom>
          <a:solidFill>
            <a:srgbClr val="E8942C"/>
          </a:solidFill>
          <a:ln/>
        </p:spPr>
      </p:sp>
      <p:sp>
        <p:nvSpPr>
          <p:cNvPr id="21" name="Text 19"/>
          <p:cNvSpPr/>
          <p:nvPr/>
        </p:nvSpPr>
        <p:spPr>
          <a:xfrm>
            <a:off x="8430768" y="2542032"/>
            <a:ext cx="1737360" cy="292608"/>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EXECUTION SUPPORT</a:t>
            </a:r>
            <a:endParaRPr lang="en-US" sz="850" dirty="0"/>
          </a:p>
        </p:txBody>
      </p:sp>
      <p:sp>
        <p:nvSpPr>
          <p:cNvPr id="22" name="Text 20"/>
          <p:cNvSpPr/>
          <p:nvPr/>
        </p:nvSpPr>
        <p:spPr>
          <a:xfrm>
            <a:off x="8430768" y="2971800"/>
            <a:ext cx="3154680" cy="685800"/>
          </a:xfrm>
          <a:prstGeom prst="rect">
            <a:avLst/>
          </a:prstGeom>
          <a:noFill/>
          <a:ln/>
        </p:spPr>
        <p:txBody>
          <a:bodyPr wrap="square" lIns="0" tIns="0" rIns="0" bIns="0" rtlCol="0" anchor="ctr"/>
          <a:lstStyle/>
          <a:p>
            <a:pPr indent="0" marL="0">
              <a:buNone/>
            </a:pPr>
            <a:r>
              <a:rPr lang="en-US" sz="1600" b="1" dirty="0">
                <a:solidFill>
                  <a:srgbClr val="0B1E3D"/>
                </a:solidFill>
                <a:latin typeface="Cambria" pitchFamily="34" charset="0"/>
                <a:ea typeface="Cambria" pitchFamily="34" charset="-122"/>
                <a:cs typeface="Cambria" pitchFamily="34" charset="-120"/>
              </a:rPr>
              <a:t>Communication &amp; Coordination Agent</a:t>
            </a:r>
            <a:endParaRPr lang="en-US" sz="1600" dirty="0"/>
          </a:p>
        </p:txBody>
      </p:sp>
      <p:sp>
        <p:nvSpPr>
          <p:cNvPr id="23" name="Text 21"/>
          <p:cNvSpPr/>
          <p:nvPr/>
        </p:nvSpPr>
        <p:spPr>
          <a:xfrm>
            <a:off x="8430768" y="3657600"/>
            <a:ext cx="3154680" cy="960120"/>
          </a:xfrm>
          <a:prstGeom prst="rect">
            <a:avLst/>
          </a:prstGeom>
          <a:noFill/>
          <a:ln/>
        </p:spPr>
        <p:txBody>
          <a:bodyPr wrap="square" lIns="0" tIns="0" rIns="0" bIns="0" rtlCol="0" anchor="ctr"/>
          <a:lstStyle/>
          <a:p>
            <a:pPr indent="0" marL="0">
              <a:lnSpc>
                <a:spcPct val="120000"/>
              </a:lnSpc>
              <a:buNone/>
            </a:pPr>
            <a:r>
              <a:rPr lang="en-US" sz="1050" dirty="0">
                <a:solidFill>
                  <a:srgbClr val="5B6472"/>
                </a:solidFill>
                <a:latin typeface="Calibri" pitchFamily="34" charset="0"/>
                <a:ea typeface="Calibri" pitchFamily="34" charset="-122"/>
                <a:cs typeface="Calibri" pitchFamily="34" charset="-120"/>
              </a:rPr>
              <a:t>Owns every simulated outbound message resulting from another agent's decision.</a:t>
            </a:r>
            <a:endParaRPr lang="en-US" sz="1050" dirty="0"/>
          </a:p>
        </p:txBody>
      </p:sp>
      <p:sp>
        <p:nvSpPr>
          <p:cNvPr id="24" name="Text 22"/>
          <p:cNvSpPr/>
          <p:nvPr/>
        </p:nvSpPr>
        <p:spPr>
          <a:xfrm>
            <a:off x="8430768" y="4709160"/>
            <a:ext cx="3154680" cy="1417320"/>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Customer ETA updates, facility handshakes</a:t>
            </a:r>
            <a:endParaRPr lang="en-US" sz="1000" dirty="0"/>
          </a:p>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Driver instructions, escalation alerts</a:t>
            </a:r>
            <a:endParaRPr lang="en-US" sz="1000" dirty="0"/>
          </a:p>
          <a:p>
            <a:pPr marL="342900" indent="-342900">
              <a:spcAft>
                <a:spcPts val="800"/>
              </a:spcAft>
              <a:buSzPct val="100000"/>
              <a:buChar char="•"/>
            </a:pPr>
            <a:r>
              <a:rPr lang="en-US" sz="1000" dirty="0">
                <a:solidFill>
                  <a:srgbClr val="14181F"/>
                </a:solidFill>
                <a:latin typeface="Calibri" pitchFamily="34" charset="0"/>
                <a:ea typeface="Calibri" pitchFamily="34" charset="-122"/>
                <a:cs typeface="Calibri" pitchFamily="34" charset="-120"/>
              </a:rPr>
              <a:t>All comms represented as auditable events</a:t>
            </a:r>
            <a:endParaRPr lang="en-US" sz="1000" dirty="0"/>
          </a:p>
        </p:txBody>
      </p:sp>
      <p:sp>
        <p:nvSpPr>
          <p:cNvPr id="25" name="Text 23"/>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26" name="Text 24"/>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AGENT ARCHITECTURE</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Event to action, every phase logged, no chain-of-thought exposed</a:t>
            </a:r>
            <a:endParaRPr lang="en-US" sz="3000" dirty="0"/>
          </a:p>
        </p:txBody>
      </p:sp>
      <p:sp>
        <p:nvSpPr>
          <p:cNvPr id="4" name="Shape 2"/>
          <p:cNvSpPr/>
          <p:nvPr/>
        </p:nvSpPr>
        <p:spPr>
          <a:xfrm>
            <a:off x="640080" y="1965960"/>
            <a:ext cx="1965960" cy="960120"/>
          </a:xfrm>
          <a:prstGeom prst="roundRect">
            <a:avLst>
              <a:gd name="adj" fmla="val 7619"/>
            </a:avLst>
          </a:prstGeom>
          <a:solidFill>
            <a:srgbClr val="0B1E3D"/>
          </a:solidFill>
          <a:ln/>
        </p:spPr>
      </p:sp>
      <p:sp>
        <p:nvSpPr>
          <p:cNvPr id="5" name="Text 3"/>
          <p:cNvSpPr/>
          <p:nvPr/>
        </p:nvSpPr>
        <p:spPr>
          <a:xfrm>
            <a:off x="640080" y="19659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Event</a:t>
            </a:r>
            <a:endParaRPr lang="en-US" sz="1250" dirty="0"/>
          </a:p>
        </p:txBody>
      </p:sp>
      <p:sp>
        <p:nvSpPr>
          <p:cNvPr id="6" name="Text 4"/>
          <p:cNvSpPr/>
          <p:nvPr/>
        </p:nvSpPr>
        <p:spPr>
          <a:xfrm>
            <a:off x="2606040" y="1965960"/>
            <a:ext cx="182880" cy="960120"/>
          </a:xfrm>
          <a:prstGeom prst="rect">
            <a:avLst/>
          </a:prstGeom>
          <a:noFill/>
          <a:ln/>
        </p:spPr>
        <p:txBody>
          <a:bodyPr wrap="square" lIns="0" tIns="0" rIns="0" bIns="0" rtlCol="0" anchor="ctr"/>
          <a:lstStyle/>
          <a:p>
            <a:pPr algn="ctr" indent="0" marL="0">
              <a:buNone/>
            </a:pPr>
            <a:r>
              <a:rPr lang="en-US" sz="1500" dirty="0">
                <a:solidFill>
                  <a:srgbClr val="5B6472"/>
                </a:solidFill>
                <a:latin typeface="Calibri" pitchFamily="34" charset="0"/>
                <a:ea typeface="Calibri" pitchFamily="34" charset="-122"/>
                <a:cs typeface="Calibri" pitchFamily="34" charset="-120"/>
              </a:rPr>
              <a:t>→</a:t>
            </a:r>
            <a:endParaRPr lang="en-US" sz="1500" dirty="0"/>
          </a:p>
        </p:txBody>
      </p:sp>
      <p:sp>
        <p:nvSpPr>
          <p:cNvPr id="7" name="Shape 5"/>
          <p:cNvSpPr/>
          <p:nvPr/>
        </p:nvSpPr>
        <p:spPr>
          <a:xfrm>
            <a:off x="2788920" y="1965960"/>
            <a:ext cx="1965960" cy="960120"/>
          </a:xfrm>
          <a:prstGeom prst="roundRect">
            <a:avLst>
              <a:gd name="adj" fmla="val 7619"/>
            </a:avLst>
          </a:prstGeom>
          <a:solidFill>
            <a:srgbClr val="0B1E3D"/>
          </a:solidFill>
          <a:ln/>
        </p:spPr>
      </p:sp>
      <p:sp>
        <p:nvSpPr>
          <p:cNvPr id="8" name="Text 6"/>
          <p:cNvSpPr/>
          <p:nvPr/>
        </p:nvSpPr>
        <p:spPr>
          <a:xfrm>
            <a:off x="2788920" y="19659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Context</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Retrieval</a:t>
            </a:r>
            <a:endParaRPr lang="en-US" sz="1250" dirty="0"/>
          </a:p>
        </p:txBody>
      </p:sp>
      <p:sp>
        <p:nvSpPr>
          <p:cNvPr id="9" name="Text 7"/>
          <p:cNvSpPr/>
          <p:nvPr/>
        </p:nvSpPr>
        <p:spPr>
          <a:xfrm>
            <a:off x="4754880" y="1965960"/>
            <a:ext cx="182880" cy="960120"/>
          </a:xfrm>
          <a:prstGeom prst="rect">
            <a:avLst/>
          </a:prstGeom>
          <a:noFill/>
          <a:ln/>
        </p:spPr>
        <p:txBody>
          <a:bodyPr wrap="square" lIns="0" tIns="0" rIns="0" bIns="0" rtlCol="0" anchor="ctr"/>
          <a:lstStyle/>
          <a:p>
            <a:pPr algn="ctr" indent="0" marL="0">
              <a:buNone/>
            </a:pPr>
            <a:r>
              <a:rPr lang="en-US" sz="1500" dirty="0">
                <a:solidFill>
                  <a:srgbClr val="5B6472"/>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4937760" y="1965960"/>
            <a:ext cx="1965960" cy="960120"/>
          </a:xfrm>
          <a:prstGeom prst="roundRect">
            <a:avLst>
              <a:gd name="adj" fmla="val 7619"/>
            </a:avLst>
          </a:prstGeom>
          <a:solidFill>
            <a:srgbClr val="2F6FEB"/>
          </a:solidFill>
          <a:ln/>
        </p:spPr>
      </p:sp>
      <p:sp>
        <p:nvSpPr>
          <p:cNvPr id="11" name="Text 9"/>
          <p:cNvSpPr/>
          <p:nvPr/>
        </p:nvSpPr>
        <p:spPr>
          <a:xfrm>
            <a:off x="4937760" y="19659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Agent</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Reasoning</a:t>
            </a:r>
            <a:endParaRPr lang="en-US" sz="1250" dirty="0"/>
          </a:p>
        </p:txBody>
      </p:sp>
      <p:sp>
        <p:nvSpPr>
          <p:cNvPr id="12" name="Text 10"/>
          <p:cNvSpPr/>
          <p:nvPr/>
        </p:nvSpPr>
        <p:spPr>
          <a:xfrm>
            <a:off x="6903720" y="1965960"/>
            <a:ext cx="182880" cy="960120"/>
          </a:xfrm>
          <a:prstGeom prst="rect">
            <a:avLst/>
          </a:prstGeom>
          <a:noFill/>
          <a:ln/>
        </p:spPr>
        <p:txBody>
          <a:bodyPr wrap="square" lIns="0" tIns="0" rIns="0" bIns="0" rtlCol="0" anchor="ctr"/>
          <a:lstStyle/>
          <a:p>
            <a:pPr algn="ctr" indent="0" marL="0">
              <a:buNone/>
            </a:pPr>
            <a:r>
              <a:rPr lang="en-US" sz="1500" dirty="0">
                <a:solidFill>
                  <a:srgbClr val="5B6472"/>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7086600" y="1965960"/>
            <a:ext cx="1965960" cy="960120"/>
          </a:xfrm>
          <a:prstGeom prst="roundRect">
            <a:avLst>
              <a:gd name="adj" fmla="val 7619"/>
            </a:avLst>
          </a:prstGeom>
          <a:solidFill>
            <a:srgbClr val="2F6FEB"/>
          </a:solidFill>
          <a:ln/>
        </p:spPr>
      </p:sp>
      <p:sp>
        <p:nvSpPr>
          <p:cNvPr id="14" name="Text 12"/>
          <p:cNvSpPr/>
          <p:nvPr/>
        </p:nvSpPr>
        <p:spPr>
          <a:xfrm>
            <a:off x="7086600" y="19659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Plan</a:t>
            </a:r>
            <a:endParaRPr lang="en-US" sz="1250" dirty="0"/>
          </a:p>
        </p:txBody>
      </p:sp>
      <p:sp>
        <p:nvSpPr>
          <p:cNvPr id="15" name="Text 13"/>
          <p:cNvSpPr/>
          <p:nvPr/>
        </p:nvSpPr>
        <p:spPr>
          <a:xfrm>
            <a:off x="9052560" y="1965960"/>
            <a:ext cx="182880" cy="960120"/>
          </a:xfrm>
          <a:prstGeom prst="rect">
            <a:avLst/>
          </a:prstGeom>
          <a:noFill/>
          <a:ln/>
        </p:spPr>
        <p:txBody>
          <a:bodyPr wrap="square" lIns="0" tIns="0" rIns="0" bIns="0" rtlCol="0" anchor="ctr"/>
          <a:lstStyle/>
          <a:p>
            <a:pPr algn="ctr" indent="0" marL="0">
              <a:buNone/>
            </a:pPr>
            <a:r>
              <a:rPr lang="en-US" sz="1500" dirty="0">
                <a:solidFill>
                  <a:srgbClr val="5B6472"/>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9235440" y="1965960"/>
            <a:ext cx="1965960" cy="960120"/>
          </a:xfrm>
          <a:prstGeom prst="roundRect">
            <a:avLst>
              <a:gd name="adj" fmla="val 7619"/>
            </a:avLst>
          </a:prstGeom>
          <a:solidFill>
            <a:srgbClr val="6B4FA0"/>
          </a:solidFill>
          <a:ln/>
        </p:spPr>
      </p:sp>
      <p:sp>
        <p:nvSpPr>
          <p:cNvPr id="17" name="Text 15"/>
          <p:cNvSpPr/>
          <p:nvPr/>
        </p:nvSpPr>
        <p:spPr>
          <a:xfrm>
            <a:off x="9235440" y="19659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Policy</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Evaluation</a:t>
            </a:r>
            <a:endParaRPr lang="en-US" sz="1250" dirty="0"/>
          </a:p>
        </p:txBody>
      </p:sp>
      <p:sp>
        <p:nvSpPr>
          <p:cNvPr id="18" name="Shape 16"/>
          <p:cNvSpPr/>
          <p:nvPr/>
        </p:nvSpPr>
        <p:spPr>
          <a:xfrm>
            <a:off x="640080" y="3154680"/>
            <a:ext cx="1965960" cy="457200"/>
          </a:xfrm>
          <a:prstGeom prst="roundRect">
            <a:avLst>
              <a:gd name="adj" fmla="val 50000"/>
            </a:avLst>
          </a:prstGeom>
          <a:solidFill>
            <a:srgbClr val="F2F2F2"/>
          </a:solidFill>
          <a:ln w="12700">
            <a:solidFill>
              <a:srgbClr val="E2E5EA"/>
            </a:solidFill>
            <a:prstDash val="solid"/>
          </a:ln>
        </p:spPr>
      </p:sp>
      <p:sp>
        <p:nvSpPr>
          <p:cNvPr id="19" name="Text 17"/>
          <p:cNvSpPr/>
          <p:nvPr/>
        </p:nvSpPr>
        <p:spPr>
          <a:xfrm>
            <a:off x="640080" y="3154680"/>
            <a:ext cx="1965960" cy="45720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  if required</a:t>
            </a:r>
            <a:endParaRPr lang="en-US" sz="1000" dirty="0"/>
          </a:p>
        </p:txBody>
      </p:sp>
      <p:sp>
        <p:nvSpPr>
          <p:cNvPr id="20" name="Shape 18"/>
          <p:cNvSpPr/>
          <p:nvPr/>
        </p:nvSpPr>
        <p:spPr>
          <a:xfrm>
            <a:off x="640080" y="3794760"/>
            <a:ext cx="1965960" cy="960120"/>
          </a:xfrm>
          <a:prstGeom prst="roundRect">
            <a:avLst>
              <a:gd name="adj" fmla="val 7619"/>
            </a:avLst>
          </a:prstGeom>
          <a:solidFill>
            <a:srgbClr val="E8942C"/>
          </a:solidFill>
          <a:ln/>
        </p:spPr>
      </p:sp>
      <p:sp>
        <p:nvSpPr>
          <p:cNvPr id="21" name="Text 19"/>
          <p:cNvSpPr/>
          <p:nvPr/>
        </p:nvSpPr>
        <p:spPr>
          <a:xfrm>
            <a:off x="640080" y="37947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Human</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Approval*</a:t>
            </a:r>
            <a:endParaRPr lang="en-US" sz="1250" dirty="0"/>
          </a:p>
        </p:txBody>
      </p:sp>
      <p:sp>
        <p:nvSpPr>
          <p:cNvPr id="22" name="Text 20"/>
          <p:cNvSpPr/>
          <p:nvPr/>
        </p:nvSpPr>
        <p:spPr>
          <a:xfrm>
            <a:off x="2606040" y="3794760"/>
            <a:ext cx="182880" cy="960120"/>
          </a:xfrm>
          <a:prstGeom prst="rect">
            <a:avLst/>
          </a:prstGeom>
          <a:noFill/>
          <a:ln/>
        </p:spPr>
        <p:txBody>
          <a:bodyPr wrap="square" lIns="0" tIns="0" rIns="0" bIns="0" rtlCol="0" anchor="ctr"/>
          <a:lstStyle/>
          <a:p>
            <a:pPr algn="ctr" indent="0" marL="0">
              <a:buNone/>
            </a:pPr>
            <a:r>
              <a:rPr lang="en-US" sz="1500" dirty="0">
                <a:solidFill>
                  <a:srgbClr val="5B6472"/>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2788920" y="3794760"/>
            <a:ext cx="1965960" cy="960120"/>
          </a:xfrm>
          <a:prstGeom prst="roundRect">
            <a:avLst>
              <a:gd name="adj" fmla="val 7619"/>
            </a:avLst>
          </a:prstGeom>
          <a:solidFill>
            <a:srgbClr val="17845A"/>
          </a:solidFill>
          <a:ln/>
        </p:spPr>
      </p:sp>
      <p:sp>
        <p:nvSpPr>
          <p:cNvPr id="24" name="Text 22"/>
          <p:cNvSpPr/>
          <p:nvPr/>
        </p:nvSpPr>
        <p:spPr>
          <a:xfrm>
            <a:off x="2788920" y="37947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Tool</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Execution</a:t>
            </a:r>
            <a:endParaRPr lang="en-US" sz="1250" dirty="0"/>
          </a:p>
        </p:txBody>
      </p:sp>
      <p:sp>
        <p:nvSpPr>
          <p:cNvPr id="25" name="Text 23"/>
          <p:cNvSpPr/>
          <p:nvPr/>
        </p:nvSpPr>
        <p:spPr>
          <a:xfrm>
            <a:off x="4754880" y="3794760"/>
            <a:ext cx="182880" cy="960120"/>
          </a:xfrm>
          <a:prstGeom prst="rect">
            <a:avLst/>
          </a:prstGeom>
          <a:noFill/>
          <a:ln/>
        </p:spPr>
        <p:txBody>
          <a:bodyPr wrap="square" lIns="0" tIns="0" rIns="0" bIns="0" rtlCol="0" anchor="ctr"/>
          <a:lstStyle/>
          <a:p>
            <a:pPr algn="ctr" indent="0" marL="0">
              <a:buNone/>
            </a:pPr>
            <a:r>
              <a:rPr lang="en-US" sz="1500" dirty="0">
                <a:solidFill>
                  <a:srgbClr val="5B6472"/>
                </a:solidFill>
                <a:latin typeface="Calibri" pitchFamily="34" charset="0"/>
                <a:ea typeface="Calibri" pitchFamily="34" charset="-122"/>
                <a:cs typeface="Calibri" pitchFamily="34" charset="-120"/>
              </a:rPr>
              <a:t>→</a:t>
            </a:r>
            <a:endParaRPr lang="en-US" sz="1500" dirty="0"/>
          </a:p>
        </p:txBody>
      </p:sp>
      <p:sp>
        <p:nvSpPr>
          <p:cNvPr id="26" name="Shape 24"/>
          <p:cNvSpPr/>
          <p:nvPr/>
        </p:nvSpPr>
        <p:spPr>
          <a:xfrm>
            <a:off x="4937760" y="3794760"/>
            <a:ext cx="1965960" cy="960120"/>
          </a:xfrm>
          <a:prstGeom prst="roundRect">
            <a:avLst>
              <a:gd name="adj" fmla="val 7619"/>
            </a:avLst>
          </a:prstGeom>
          <a:solidFill>
            <a:srgbClr val="17845A"/>
          </a:solidFill>
          <a:ln/>
        </p:spPr>
      </p:sp>
      <p:sp>
        <p:nvSpPr>
          <p:cNvPr id="27" name="Text 25"/>
          <p:cNvSpPr/>
          <p:nvPr/>
        </p:nvSpPr>
        <p:spPr>
          <a:xfrm>
            <a:off x="4937760" y="37947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Verification</a:t>
            </a:r>
            <a:endParaRPr lang="en-US" sz="1250" dirty="0"/>
          </a:p>
        </p:txBody>
      </p:sp>
      <p:sp>
        <p:nvSpPr>
          <p:cNvPr id="28" name="Text 26"/>
          <p:cNvSpPr/>
          <p:nvPr/>
        </p:nvSpPr>
        <p:spPr>
          <a:xfrm>
            <a:off x="6903720" y="3794760"/>
            <a:ext cx="182880" cy="960120"/>
          </a:xfrm>
          <a:prstGeom prst="rect">
            <a:avLst/>
          </a:prstGeom>
          <a:noFill/>
          <a:ln/>
        </p:spPr>
        <p:txBody>
          <a:bodyPr wrap="square" lIns="0" tIns="0" rIns="0" bIns="0" rtlCol="0" anchor="ctr"/>
          <a:lstStyle/>
          <a:p>
            <a:pPr algn="ctr" indent="0" marL="0">
              <a:buNone/>
            </a:pPr>
            <a:r>
              <a:rPr lang="en-US" sz="1500" dirty="0">
                <a:solidFill>
                  <a:srgbClr val="5B6472"/>
                </a:solidFill>
                <a:latin typeface="Calibri" pitchFamily="34" charset="0"/>
                <a:ea typeface="Calibri" pitchFamily="34" charset="-122"/>
                <a:cs typeface="Calibri" pitchFamily="34" charset="-120"/>
              </a:rPr>
              <a:t>→</a:t>
            </a:r>
            <a:endParaRPr lang="en-US" sz="1500" dirty="0"/>
          </a:p>
        </p:txBody>
      </p:sp>
      <p:sp>
        <p:nvSpPr>
          <p:cNvPr id="29" name="Shape 27"/>
          <p:cNvSpPr/>
          <p:nvPr/>
        </p:nvSpPr>
        <p:spPr>
          <a:xfrm>
            <a:off x="7086600" y="3794760"/>
            <a:ext cx="1965960" cy="960120"/>
          </a:xfrm>
          <a:prstGeom prst="roundRect">
            <a:avLst>
              <a:gd name="adj" fmla="val 7619"/>
            </a:avLst>
          </a:prstGeom>
          <a:solidFill>
            <a:srgbClr val="0B1E3D"/>
          </a:solidFill>
          <a:ln/>
        </p:spPr>
      </p:sp>
      <p:sp>
        <p:nvSpPr>
          <p:cNvPr id="30" name="Text 28"/>
          <p:cNvSpPr/>
          <p:nvPr/>
        </p:nvSpPr>
        <p:spPr>
          <a:xfrm>
            <a:off x="7086600" y="37947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State</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Update</a:t>
            </a:r>
            <a:endParaRPr lang="en-US" sz="1250" dirty="0"/>
          </a:p>
        </p:txBody>
      </p:sp>
      <p:sp>
        <p:nvSpPr>
          <p:cNvPr id="31" name="Text 29"/>
          <p:cNvSpPr/>
          <p:nvPr/>
        </p:nvSpPr>
        <p:spPr>
          <a:xfrm>
            <a:off x="9052560" y="3794760"/>
            <a:ext cx="182880" cy="960120"/>
          </a:xfrm>
          <a:prstGeom prst="rect">
            <a:avLst/>
          </a:prstGeom>
          <a:noFill/>
          <a:ln/>
        </p:spPr>
        <p:txBody>
          <a:bodyPr wrap="square" lIns="0" tIns="0" rIns="0" bIns="0" rtlCol="0" anchor="ctr"/>
          <a:lstStyle/>
          <a:p>
            <a:pPr algn="ctr" indent="0" marL="0">
              <a:buNone/>
            </a:pPr>
            <a:r>
              <a:rPr lang="en-US" sz="1500" dirty="0">
                <a:solidFill>
                  <a:srgbClr val="5B6472"/>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9235440" y="3794760"/>
            <a:ext cx="1965960" cy="960120"/>
          </a:xfrm>
          <a:prstGeom prst="roundRect">
            <a:avLst>
              <a:gd name="adj" fmla="val 7619"/>
            </a:avLst>
          </a:prstGeom>
          <a:solidFill>
            <a:srgbClr val="0B1E3D"/>
          </a:solidFill>
          <a:ln/>
        </p:spPr>
      </p:sp>
      <p:sp>
        <p:nvSpPr>
          <p:cNvPr id="33" name="Text 31"/>
          <p:cNvSpPr/>
          <p:nvPr/>
        </p:nvSpPr>
        <p:spPr>
          <a:xfrm>
            <a:off x="9235440" y="3794760"/>
            <a:ext cx="1965960"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Audit +</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Comms</a:t>
            </a:r>
            <a:endParaRPr lang="en-US" sz="1250" dirty="0"/>
          </a:p>
        </p:txBody>
      </p:sp>
      <p:sp>
        <p:nvSpPr>
          <p:cNvPr id="34" name="Shape 32"/>
          <p:cNvSpPr/>
          <p:nvPr/>
        </p:nvSpPr>
        <p:spPr>
          <a:xfrm>
            <a:off x="548640" y="5074920"/>
            <a:ext cx="11064240" cy="1234440"/>
          </a:xfrm>
          <a:prstGeom prst="roundRect">
            <a:avLst>
              <a:gd name="adj" fmla="val 6667"/>
            </a:avLst>
          </a:prstGeom>
          <a:solidFill>
            <a:srgbClr val="EEF3FE"/>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35" name="Text 33"/>
          <p:cNvSpPr/>
          <p:nvPr/>
        </p:nvSpPr>
        <p:spPr>
          <a:xfrm>
            <a:off x="822960" y="5230368"/>
            <a:ext cx="10515600" cy="914400"/>
          </a:xfrm>
          <a:prstGeom prst="rect">
            <a:avLst/>
          </a:prstGeom>
          <a:noFill/>
          <a:ln/>
        </p:spPr>
        <p:txBody>
          <a:bodyPr wrap="square" lIns="0" tIns="0" rIns="0" bIns="0" rtlCol="0" anchor="ctr"/>
          <a:lstStyle/>
          <a:p>
            <a:pPr indent="0" marL="0">
              <a:lnSpc>
                <a:spcPct val="125000"/>
              </a:lnSpc>
              <a:buNone/>
            </a:pPr>
            <a:r>
              <a:rPr lang="en-US" sz="1300" dirty="0">
                <a:solidFill>
                  <a:srgbClr val="0B1E3D"/>
                </a:solidFill>
                <a:latin typeface="Calibri" pitchFamily="34" charset="0"/>
                <a:ea typeface="Calibri" pitchFamily="34" charset="-122"/>
                <a:cs typeface="Calibri" pitchFamily="34" charset="-120"/>
              </a:rPr>
              <a:t>Agents never mutate state directly. Every action passes through a typed, zod-validated tool layer (getShipment, calculateETA, rescheduleAppointment, reassignShipment, sendNotification, requestApproval, recordAgentAction …) that writes an audit event on every write.</a:t>
            </a:r>
            <a:endParaRPr lang="en-US" sz="1300" dirty="0"/>
          </a:p>
        </p:txBody>
      </p:sp>
      <p:sp>
        <p:nvSpPr>
          <p:cNvPr id="36" name="Text 34"/>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37" name="Text 35"/>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HUMAN OVERSIGHT &amp; AUTONOMY</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Controlled autonomy, configured per action — not unrestricted AI execution</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852160" cy="3291840"/>
        </p:xfrm>
        <a:graphic>
          <a:graphicData uri="http://schemas.openxmlformats.org/drawingml/2006/table">
            <a:tbl>
              <a:tblPr/>
              <a:tblGrid>
                <a:gridCol w="1737360"/>
                <a:gridCol w="2743200"/>
                <a:gridCol w="13716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Level</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Behavior</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Example default</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solidFill>
                      <a:srgbClr val="0B1E3D"/>
                    </a:solidFill>
                  </a:tcPr>
                </a:tc>
              </a:tr>
              <a:tr h="548640">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Observe</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Detect &amp; report only</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548640">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Recommend</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Propose an action; always needs approval</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548640">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Low-risk autonomous</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Auto-executes under a cost limit</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Appointment reschedule ≤ $100</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548640">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Operational autonomous</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Auto-executes within its limits</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Carrier rebook ≤ $500</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r h="548640">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High-impact approval</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Always requires human approval</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c>
                  <a:txBody>
                    <a:bodyPr/>
                    <a:lstStyle/>
                    <a:p>
                      <a:pPr indent="0" marL="0">
                        <a:buNone/>
                      </a:pPr>
                      <a:r>
                        <a:rPr lang="en-US" sz="1150" dirty="0">
                          <a:solidFill>
                            <a:srgbClr val="14181F"/>
                          </a:solidFill>
                          <a:latin typeface="Calibri" pitchFamily="34" charset="0"/>
                          <a:ea typeface="Calibri" pitchFamily="34" charset="-122"/>
                          <a:cs typeface="Calibri" pitchFamily="34" charset="-120"/>
                        </a:rPr>
                        <a:t>Driver reassignment</a:t>
                      </a:r>
                      <a:endParaRPr lang="en-US" sz="1150" dirty="0">
                        <a:latin typeface="Calibri" charset="0"/>
                        <a:ea typeface="Calibri" charset="0"/>
                        <a:cs typeface="Calibri" charset="0"/>
                      </a:endParaRPr>
                    </a:p>
                  </a:txBody>
                  <a:tcPr marL="91440" marR="91440" marT="45720" marB="45720" anchor="ctr">
                    <a:lnL w="9525" cap="flat" cmpd="sng" algn="ctr">
                      <a:solidFill>
                        <a:srgbClr val="E2E5EA"/>
                      </a:solidFill>
                      <a:prstDash val="solid"/>
                      <a:round/>
                      <a:headEnd type="none" w="med" len="med"/>
                      <a:tailEnd type="none" w="med" len="med"/>
                    </a:lnL>
                    <a:lnR w="9525" cap="flat" cmpd="sng" algn="ctr">
                      <a:solidFill>
                        <a:srgbClr val="E2E5EA"/>
                      </a:solidFill>
                      <a:prstDash val="solid"/>
                      <a:round/>
                      <a:headEnd type="none" w="med" len="med"/>
                      <a:tailEnd type="none" w="med" len="med"/>
                    </a:lnR>
                    <a:lnT w="9525" cap="flat" cmpd="sng" algn="ctr">
                      <a:solidFill>
                        <a:srgbClr val="E2E5EA"/>
                      </a:solidFill>
                      <a:prstDash val="solid"/>
                      <a:round/>
                      <a:headEnd type="none" w="med" len="med"/>
                      <a:tailEnd type="none" w="med" len="med"/>
                    </a:lnT>
                    <a:lnB w="9525" cap="flat" cmpd="sng" algn="ctr">
                      <a:solidFill>
                        <a:srgbClr val="E2E5EA"/>
                      </a:solidFill>
                      <a:prstDash val="solid"/>
                      <a:round/>
                      <a:headEnd type="none" w="med" len="med"/>
                      <a:tailEnd type="none" w="med" len="med"/>
                    </a:lnB>
                  </a:tcPr>
                </a:tc>
              </a:tr>
            </a:tbl>
          </a:graphicData>
        </a:graphic>
      </p:graphicFrame>
      <p:sp>
        <p:nvSpPr>
          <p:cNvPr id="5" name="Text 2"/>
          <p:cNvSpPr/>
          <p:nvPr/>
        </p:nvSpPr>
        <p:spPr>
          <a:xfrm>
            <a:off x="548640" y="5349240"/>
            <a:ext cx="5852160" cy="914400"/>
          </a:xfrm>
          <a:prstGeom prst="rect">
            <a:avLst/>
          </a:prstGeom>
          <a:noFill/>
          <a:ln/>
        </p:spPr>
        <p:txBody>
          <a:bodyPr wrap="square" lIns="0" tIns="0" rIns="0" bIns="0" rtlCol="0" anchor="ctr"/>
          <a:lstStyle/>
          <a:p>
            <a:pPr indent="0" marL="0">
              <a:lnSpc>
                <a:spcPct val="120000"/>
              </a:lnSpc>
              <a:buNone/>
            </a:pPr>
            <a:r>
              <a:rPr lang="en-US" sz="1150" i="1" dirty="0">
                <a:solidFill>
                  <a:srgbClr val="5B6472"/>
                </a:solidFill>
                <a:latin typeface="Calibri" pitchFamily="34" charset="0"/>
                <a:ea typeface="Calibri" pitchFamily="34" charset="-122"/>
                <a:cs typeface="Calibri" pitchFamily="34" charset="-120"/>
              </a:rPr>
              <a:t>Every threshold above is visible and editable at runtime from the Policy Configuration screen — the same governance surface an operations manager would use in production.</a:t>
            </a:r>
            <a:endParaRPr lang="en-US" sz="1150" dirty="0"/>
          </a:p>
        </p:txBody>
      </p:sp>
      <p:sp>
        <p:nvSpPr>
          <p:cNvPr id="6" name="Shape 3"/>
          <p:cNvSpPr/>
          <p:nvPr/>
        </p:nvSpPr>
        <p:spPr>
          <a:xfrm>
            <a:off x="6675120" y="1783080"/>
            <a:ext cx="4937760" cy="4480560"/>
          </a:xfrm>
          <a:prstGeom prst="roundRect">
            <a:avLst>
              <a:gd name="adj" fmla="val 1837"/>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pic>
        <p:nvPicPr>
          <p:cNvPr id="7" name="Image 0" descr="/tmp/deck-07-policies.png">    </p:cNvPr>
          <p:cNvPicPr>
            <a:picLocks noChangeAspect="1"/>
          </p:cNvPicPr>
          <p:nvPr/>
        </p:nvPicPr>
        <p:blipFill>
          <a:blip r:embed="rId1"/>
          <a:srcRect l="0" r="0" t="0" b="0"/>
          <a:stretch/>
        </p:blipFill>
        <p:spPr>
          <a:xfrm>
            <a:off x="6720840" y="1828800"/>
            <a:ext cx="4846320" cy="3026664"/>
          </a:xfrm>
          <a:prstGeom prst="rect">
            <a:avLst/>
          </a:prstGeom>
        </p:spPr>
      </p:pic>
      <p:sp>
        <p:nvSpPr>
          <p:cNvPr id="8" name="Text 4"/>
          <p:cNvSpPr/>
          <p:nvPr/>
        </p:nvSpPr>
        <p:spPr>
          <a:xfrm>
            <a:off x="6675120" y="4892040"/>
            <a:ext cx="4937760" cy="27432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Live Policy Configuration screen</a:t>
            </a:r>
            <a:endParaRPr lang="en-US" sz="1050" dirty="0"/>
          </a:p>
        </p:txBody>
      </p:sp>
      <p:pic>
        <p:nvPicPr>
          <p:cNvPr id="9" name="Image 1" descr="/tmp/deck-06-approvals.png">    </p:cNvPr>
          <p:cNvPicPr>
            <a:picLocks noChangeAspect="1"/>
          </p:cNvPicPr>
          <p:nvPr/>
        </p:nvPicPr>
        <p:blipFill>
          <a:blip r:embed="rId2"/>
          <a:srcRect l="0" r="0" t="0" b="0"/>
          <a:stretch/>
        </p:blipFill>
        <p:spPr>
          <a:xfrm>
            <a:off x="6720840" y="5166360"/>
            <a:ext cx="4846320" cy="1097280"/>
          </a:xfrm>
          <a:prstGeom prst="rect">
            <a:avLst/>
          </a:prstGeom>
        </p:spPr>
      </p:pic>
      <p:sp>
        <p:nvSpPr>
          <p:cNvPr id="10" name="Text 5"/>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11" name="Text 6"/>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POC SCOPE</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What's fully working today, and what's deliberately deferred</a:t>
            </a:r>
            <a:endParaRPr lang="en-US" sz="3000" dirty="0"/>
          </a:p>
        </p:txBody>
      </p:sp>
      <p:sp>
        <p:nvSpPr>
          <p:cNvPr id="4" name="Shape 2"/>
          <p:cNvSpPr/>
          <p:nvPr/>
        </p:nvSpPr>
        <p:spPr>
          <a:xfrm>
            <a:off x="548640" y="1828800"/>
            <a:ext cx="5394960" cy="4434840"/>
          </a:xfrm>
          <a:prstGeom prst="roundRect">
            <a:avLst>
              <a:gd name="adj" fmla="val 1856"/>
            </a:avLst>
          </a:prstGeom>
          <a:solidFill>
            <a:srgbClr val="EAF6E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5" name="Text 3"/>
          <p:cNvSpPr/>
          <p:nvPr/>
        </p:nvSpPr>
        <p:spPr>
          <a:xfrm>
            <a:off x="822960" y="2029968"/>
            <a:ext cx="4846320" cy="320040"/>
          </a:xfrm>
          <a:prstGeom prst="rect">
            <a:avLst/>
          </a:prstGeom>
          <a:noFill/>
          <a:ln/>
        </p:spPr>
        <p:txBody>
          <a:bodyPr wrap="square" lIns="0" tIns="0" rIns="0" bIns="0" rtlCol="0" anchor="ctr"/>
          <a:lstStyle/>
          <a:p>
            <a:pPr indent="0" marL="0">
              <a:buNone/>
            </a:pPr>
            <a:r>
              <a:rPr lang="en-US" sz="1100" b="1" spc="150" kern="0" dirty="0">
                <a:solidFill>
                  <a:srgbClr val="17845A"/>
                </a:solidFill>
                <a:latin typeface="Calibri" pitchFamily="34" charset="0"/>
                <a:ea typeface="Calibri" pitchFamily="34" charset="-122"/>
                <a:cs typeface="Calibri" pitchFamily="34" charset="-120"/>
              </a:rPr>
              <a:t>IN SCOPE — WORKING TODAY</a:t>
            </a:r>
            <a:endParaRPr lang="en-US" sz="1100" dirty="0"/>
          </a:p>
        </p:txBody>
      </p:sp>
      <p:sp>
        <p:nvSpPr>
          <p:cNvPr id="6" name="Text 4"/>
          <p:cNvSpPr/>
          <p:nvPr/>
        </p:nvSpPr>
        <p:spPr>
          <a:xfrm>
            <a:off x="868680" y="2468880"/>
            <a:ext cx="4846320" cy="3566160"/>
          </a:xfrm>
          <a:prstGeom prst="rect">
            <a:avLst/>
          </a:prstGeom>
          <a:noFill/>
          <a:ln/>
        </p:spPr>
        <p:txBody>
          <a:bodyPr wrap="square" lIns="0" tIns="0" rIns="0" bIns="0" rtlCol="0" anchor="ctr"/>
          <a:lstStyle/>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3 agents, full orchestration pipeline</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Typed tool layer + policy engine + approvals</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Deterministic simulation engine</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~63 shipments, 10 drivers, 5 facilities seeded</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6-screen interactive UI, live KPIs</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Deterministic, reproducible hero demo</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40 automated tests</a:t>
            </a:r>
            <a:endParaRPr lang="en-US" sz="1300" dirty="0"/>
          </a:p>
        </p:txBody>
      </p:sp>
      <p:sp>
        <p:nvSpPr>
          <p:cNvPr id="7" name="Shape 5"/>
          <p:cNvSpPr/>
          <p:nvPr/>
        </p:nvSpPr>
        <p:spPr>
          <a:xfrm>
            <a:off x="6217920" y="1828800"/>
            <a:ext cx="5394960" cy="4434840"/>
          </a:xfrm>
          <a:prstGeom prst="roundRect">
            <a:avLst>
              <a:gd name="adj" fmla="val 1856"/>
            </a:avLst>
          </a:prstGeom>
          <a:solidFill>
            <a:srgbClr val="FBEFE3"/>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8" name="Text 6"/>
          <p:cNvSpPr/>
          <p:nvPr/>
        </p:nvSpPr>
        <p:spPr>
          <a:xfrm>
            <a:off x="6492240" y="2029968"/>
            <a:ext cx="4846320" cy="320040"/>
          </a:xfrm>
          <a:prstGeom prst="rect">
            <a:avLst/>
          </a:prstGeom>
          <a:noFill/>
          <a:ln/>
        </p:spPr>
        <p:txBody>
          <a:bodyPr wrap="square" lIns="0" tIns="0" rIns="0" bIns="0" rtlCol="0" anchor="ctr"/>
          <a:lstStyle/>
          <a:p>
            <a:pPr indent="0" marL="0">
              <a:buNone/>
            </a:pPr>
            <a:r>
              <a:rPr lang="en-US" sz="1100" b="1" spc="150" kern="0" dirty="0">
                <a:solidFill>
                  <a:srgbClr val="E8942C"/>
                </a:solidFill>
                <a:latin typeface="Calibri" pitchFamily="34" charset="0"/>
                <a:ea typeface="Calibri" pitchFamily="34" charset="-122"/>
                <a:cs typeface="Calibri" pitchFamily="34" charset="-120"/>
              </a:rPr>
              <a:t>DELIBERATELY OUT OF SCOPE</a:t>
            </a:r>
            <a:endParaRPr lang="en-US" sz="1100" dirty="0"/>
          </a:p>
        </p:txBody>
      </p:sp>
      <p:sp>
        <p:nvSpPr>
          <p:cNvPr id="9" name="Text 7"/>
          <p:cNvSpPr/>
          <p:nvPr/>
        </p:nvSpPr>
        <p:spPr>
          <a:xfrm>
            <a:off x="6537960" y="2468880"/>
            <a:ext cx="4846320" cy="2743200"/>
          </a:xfrm>
          <a:prstGeom prst="rect">
            <a:avLst/>
          </a:prstGeom>
          <a:noFill/>
          <a:ln/>
        </p:spPr>
        <p:txBody>
          <a:bodyPr wrap="square" lIns="0" tIns="0" rIns="0" bIns="0" rtlCol="0" anchor="ctr"/>
          <a:lstStyle/>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Real TMS / telematics / routing integrations</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Real outbound comms (email/SMS/EDI)</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Multi-tenant auth, billing, org/role mgmt</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Mobile driver app</a:t>
            </a:r>
            <a:endParaRPr lang="en-US" sz="1300" dirty="0"/>
          </a:p>
          <a:p>
            <a:pPr marL="342900" indent="-342900">
              <a:spcAft>
                <a:spcPts val="1300"/>
              </a:spcAft>
              <a:buSzPct val="100000"/>
              <a:buChar char="✕"/>
            </a:pPr>
            <a:r>
              <a:rPr lang="en-US" sz="1300" dirty="0">
                <a:solidFill>
                  <a:srgbClr val="14181F"/>
                </a:solidFill>
                <a:latin typeface="Calibri" pitchFamily="34" charset="0"/>
                <a:ea typeface="Calibri" pitchFamily="34" charset="-122"/>
                <a:cs typeface="Calibri" pitchFamily="34" charset="-120"/>
              </a:rPr>
              <a:t>Predictive / network-level intelligence</a:t>
            </a:r>
            <a:endParaRPr lang="en-US" sz="1300" dirty="0"/>
          </a:p>
        </p:txBody>
      </p:sp>
      <p:sp>
        <p:nvSpPr>
          <p:cNvPr id="10" name="Text 8"/>
          <p:cNvSpPr/>
          <p:nvPr/>
        </p:nvSpPr>
        <p:spPr>
          <a:xfrm>
            <a:off x="6537960" y="5394960"/>
            <a:ext cx="4846320" cy="73152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Each is a scoped, seamed extension point — not a redesign. See docs/architecture/architecture.md.</a:t>
            </a:r>
            <a:endParaRPr lang="en-US" sz="1050" dirty="0"/>
          </a:p>
        </p:txBody>
      </p:sp>
      <p:sp>
        <p:nvSpPr>
          <p:cNvPr id="11" name="Text 9"/>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12" name="Text 10"/>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HERO DEMONSTRATION</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Driver D-07 delayed 45 min — detected, decided, acted, verified in under two minutes</a:t>
            </a:r>
            <a:endParaRPr lang="en-US" sz="3000" dirty="0"/>
          </a:p>
        </p:txBody>
      </p:sp>
      <p:sp>
        <p:nvSpPr>
          <p:cNvPr id="4" name="Shape 2"/>
          <p:cNvSpPr/>
          <p:nvPr/>
        </p:nvSpPr>
        <p:spPr>
          <a:xfrm>
            <a:off x="548640" y="1783080"/>
            <a:ext cx="5943600" cy="4480560"/>
          </a:xfrm>
          <a:prstGeom prst="roundRect">
            <a:avLst>
              <a:gd name="adj" fmla="val 1837"/>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pic>
        <p:nvPicPr>
          <p:cNvPr id="5" name="Image 0" descr="/tmp/deck-03-activity.png">    </p:cNvPr>
          <p:cNvPicPr>
            <a:picLocks noChangeAspect="1"/>
          </p:cNvPicPr>
          <p:nvPr/>
        </p:nvPicPr>
        <p:blipFill>
          <a:blip r:embed="rId1"/>
          <a:srcRect l="0" r="0" t="0" b="0"/>
          <a:stretch/>
        </p:blipFill>
        <p:spPr>
          <a:xfrm>
            <a:off x="594360" y="1828800"/>
            <a:ext cx="5852160" cy="3657600"/>
          </a:xfrm>
          <a:prstGeom prst="rect">
            <a:avLst/>
          </a:prstGeom>
        </p:spPr>
      </p:pic>
      <p:sp>
        <p:nvSpPr>
          <p:cNvPr id="6" name="Text 3"/>
          <p:cNvSpPr/>
          <p:nvPr/>
        </p:nvSpPr>
        <p:spPr>
          <a:xfrm>
            <a:off x="548640" y="5559552"/>
            <a:ext cx="5943600" cy="64008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Live Agent Activity timeline — structured, not chain-of-thought</a:t>
            </a:r>
            <a:endParaRPr lang="en-US" sz="1050" dirty="0"/>
          </a:p>
        </p:txBody>
      </p:sp>
      <p:sp>
        <p:nvSpPr>
          <p:cNvPr id="7" name="Shape 4"/>
          <p:cNvSpPr/>
          <p:nvPr/>
        </p:nvSpPr>
        <p:spPr>
          <a:xfrm>
            <a:off x="6675120" y="1828800"/>
            <a:ext cx="384048" cy="384048"/>
          </a:xfrm>
          <a:prstGeom prst="ellipse">
            <a:avLst/>
          </a:prstGeom>
          <a:solidFill>
            <a:srgbClr val="2F6FEB"/>
          </a:solidFill>
          <a:ln/>
        </p:spPr>
      </p:sp>
      <p:sp>
        <p:nvSpPr>
          <p:cNvPr id="8" name="Text 5"/>
          <p:cNvSpPr/>
          <p:nvPr/>
        </p:nvSpPr>
        <p:spPr>
          <a:xfrm>
            <a:off x="667512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p:nvPr/>
        </p:nvSpPr>
        <p:spPr>
          <a:xfrm>
            <a:off x="7223760" y="1801368"/>
            <a:ext cx="4480560" cy="29260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Exception detected</a:t>
            </a:r>
            <a:endParaRPr lang="en-US" sz="1300" dirty="0"/>
          </a:p>
        </p:txBody>
      </p:sp>
      <p:sp>
        <p:nvSpPr>
          <p:cNvPr id="10" name="Text 7"/>
          <p:cNvSpPr/>
          <p:nvPr/>
        </p:nvSpPr>
        <p:spPr>
          <a:xfrm>
            <a:off x="7223760" y="2084832"/>
            <a:ext cx="4480560" cy="45720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45-min delay violates the delivery window</a:t>
            </a:r>
            <a:endParaRPr lang="en-US" sz="1050" dirty="0"/>
          </a:p>
        </p:txBody>
      </p:sp>
      <p:sp>
        <p:nvSpPr>
          <p:cNvPr id="11" name="Shape 8"/>
          <p:cNvSpPr/>
          <p:nvPr/>
        </p:nvSpPr>
        <p:spPr>
          <a:xfrm>
            <a:off x="6675120" y="2670048"/>
            <a:ext cx="384048" cy="384048"/>
          </a:xfrm>
          <a:prstGeom prst="ellipse">
            <a:avLst/>
          </a:prstGeom>
          <a:solidFill>
            <a:srgbClr val="2F6FEB"/>
          </a:solidFill>
          <a:ln/>
        </p:spPr>
      </p:sp>
      <p:sp>
        <p:nvSpPr>
          <p:cNvPr id="12" name="Text 9"/>
          <p:cNvSpPr/>
          <p:nvPr/>
        </p:nvSpPr>
        <p:spPr>
          <a:xfrm>
            <a:off x="6675120" y="2670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p:nvPr/>
        </p:nvSpPr>
        <p:spPr>
          <a:xfrm>
            <a:off x="7223760" y="2642616"/>
            <a:ext cx="4480560" cy="29260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Options evaluated &amp; scored</a:t>
            </a:r>
            <a:endParaRPr lang="en-US" sz="1300" dirty="0"/>
          </a:p>
        </p:txBody>
      </p:sp>
      <p:sp>
        <p:nvSpPr>
          <p:cNvPr id="14" name="Text 11"/>
          <p:cNvSpPr/>
          <p:nvPr/>
        </p:nvSpPr>
        <p:spPr>
          <a:xfrm>
            <a:off x="7223760" y="2926080"/>
            <a:ext cx="4480560" cy="45720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5 recovery options ranked by recovery-to-cost efficiency</a:t>
            </a:r>
            <a:endParaRPr lang="en-US" sz="1050" dirty="0"/>
          </a:p>
        </p:txBody>
      </p:sp>
      <p:sp>
        <p:nvSpPr>
          <p:cNvPr id="15" name="Shape 12"/>
          <p:cNvSpPr/>
          <p:nvPr/>
        </p:nvSpPr>
        <p:spPr>
          <a:xfrm>
            <a:off x="6675120" y="3511296"/>
            <a:ext cx="384048" cy="384048"/>
          </a:xfrm>
          <a:prstGeom prst="ellipse">
            <a:avLst/>
          </a:prstGeom>
          <a:solidFill>
            <a:srgbClr val="2F6FEB"/>
          </a:solidFill>
          <a:ln/>
        </p:spPr>
      </p:sp>
      <p:sp>
        <p:nvSpPr>
          <p:cNvPr id="16" name="Text 13"/>
          <p:cNvSpPr/>
          <p:nvPr/>
        </p:nvSpPr>
        <p:spPr>
          <a:xfrm>
            <a:off x="6675120" y="35112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p:nvPr/>
        </p:nvSpPr>
        <p:spPr>
          <a:xfrm>
            <a:off x="7223760" y="3483864"/>
            <a:ext cx="4480560" cy="29260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Policy checked</a:t>
            </a:r>
            <a:endParaRPr lang="en-US" sz="1300" dirty="0"/>
          </a:p>
        </p:txBody>
      </p:sp>
      <p:sp>
        <p:nvSpPr>
          <p:cNvPr id="18" name="Text 15"/>
          <p:cNvSpPr/>
          <p:nvPr/>
        </p:nvSpPr>
        <p:spPr>
          <a:xfrm>
            <a:off x="7223760" y="3767328"/>
            <a:ext cx="4480560" cy="45720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$25 reschedule cost is under the $100 autonomous threshold</a:t>
            </a:r>
            <a:endParaRPr lang="en-US" sz="1050" dirty="0"/>
          </a:p>
        </p:txBody>
      </p:sp>
      <p:sp>
        <p:nvSpPr>
          <p:cNvPr id="19" name="Shape 16"/>
          <p:cNvSpPr/>
          <p:nvPr/>
        </p:nvSpPr>
        <p:spPr>
          <a:xfrm>
            <a:off x="6675120" y="4352544"/>
            <a:ext cx="384048" cy="384048"/>
          </a:xfrm>
          <a:prstGeom prst="ellipse">
            <a:avLst/>
          </a:prstGeom>
          <a:solidFill>
            <a:srgbClr val="2F6FEB"/>
          </a:solidFill>
          <a:ln/>
        </p:spPr>
      </p:sp>
      <p:sp>
        <p:nvSpPr>
          <p:cNvPr id="20" name="Text 17"/>
          <p:cNvSpPr/>
          <p:nvPr/>
        </p:nvSpPr>
        <p:spPr>
          <a:xfrm>
            <a:off x="6675120" y="43525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8"/>
          <p:cNvSpPr/>
          <p:nvPr/>
        </p:nvSpPr>
        <p:spPr>
          <a:xfrm>
            <a:off x="7223760" y="4325112"/>
            <a:ext cx="4480560" cy="29260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Facility contacted &amp; confirmed</a:t>
            </a:r>
            <a:endParaRPr lang="en-US" sz="1300" dirty="0"/>
          </a:p>
        </p:txBody>
      </p:sp>
      <p:sp>
        <p:nvSpPr>
          <p:cNvPr id="22" name="Text 19"/>
          <p:cNvSpPr/>
          <p:nvPr/>
        </p:nvSpPr>
        <p:spPr>
          <a:xfrm>
            <a:off x="7223760" y="4608576"/>
            <a:ext cx="4480560" cy="45720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Communication Agent handles the handshake</a:t>
            </a:r>
            <a:endParaRPr lang="en-US" sz="1050" dirty="0"/>
          </a:p>
        </p:txBody>
      </p:sp>
      <p:sp>
        <p:nvSpPr>
          <p:cNvPr id="23" name="Shape 20"/>
          <p:cNvSpPr/>
          <p:nvPr/>
        </p:nvSpPr>
        <p:spPr>
          <a:xfrm>
            <a:off x="6675120" y="5193792"/>
            <a:ext cx="384048" cy="384048"/>
          </a:xfrm>
          <a:prstGeom prst="ellipse">
            <a:avLst/>
          </a:prstGeom>
          <a:solidFill>
            <a:srgbClr val="2F6FEB"/>
          </a:solidFill>
          <a:ln/>
        </p:spPr>
      </p:sp>
      <p:sp>
        <p:nvSpPr>
          <p:cNvPr id="24" name="Text 21"/>
          <p:cNvSpPr/>
          <p:nvPr/>
        </p:nvSpPr>
        <p:spPr>
          <a:xfrm>
            <a:off x="6675120" y="5193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2"/>
          <p:cNvSpPr/>
          <p:nvPr/>
        </p:nvSpPr>
        <p:spPr>
          <a:xfrm>
            <a:off x="7223760" y="5166360"/>
            <a:ext cx="4480560" cy="292608"/>
          </a:xfrm>
          <a:prstGeom prst="rect">
            <a:avLst/>
          </a:prstGeom>
          <a:noFill/>
          <a:ln/>
        </p:spPr>
        <p:txBody>
          <a:bodyPr wrap="square" lIns="0" tIns="0" rIns="0" bIns="0" rtlCol="0" anchor="ctr"/>
          <a:lstStyle/>
          <a:p>
            <a:pPr indent="0" marL="0">
              <a:buNone/>
            </a:pPr>
            <a:r>
              <a:rPr lang="en-US" sz="1300" b="1" dirty="0">
                <a:solidFill>
                  <a:srgbClr val="0B1E3D"/>
                </a:solidFill>
                <a:latin typeface="Calibri" pitchFamily="34" charset="0"/>
                <a:ea typeface="Calibri" pitchFamily="34" charset="-122"/>
                <a:cs typeface="Calibri" pitchFamily="34" charset="-120"/>
              </a:rPr>
              <a:t>Shipment updated, customer notified</a:t>
            </a:r>
            <a:endParaRPr lang="en-US" sz="1300" dirty="0"/>
          </a:p>
        </p:txBody>
      </p:sp>
      <p:sp>
        <p:nvSpPr>
          <p:cNvPr id="26" name="Text 23"/>
          <p:cNvSpPr/>
          <p:nvPr/>
        </p:nvSpPr>
        <p:spPr>
          <a:xfrm>
            <a:off x="7223760" y="5449824"/>
            <a:ext cx="4480560" cy="45720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Exception resolved — zero human touches</a:t>
            </a:r>
            <a:endParaRPr lang="en-US" sz="1050" dirty="0"/>
          </a:p>
        </p:txBody>
      </p:sp>
      <p:sp>
        <p:nvSpPr>
          <p:cNvPr id="27" name="Text 24"/>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28" name="Text 25"/>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ROADMAP</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Five phases, each shipping on the same architecture</a:t>
            </a:r>
            <a:endParaRPr lang="en-US" sz="3000" dirty="0"/>
          </a:p>
        </p:txBody>
      </p:sp>
      <p:sp>
        <p:nvSpPr>
          <p:cNvPr id="4" name="Shape 2"/>
          <p:cNvSpPr/>
          <p:nvPr/>
        </p:nvSpPr>
        <p:spPr>
          <a:xfrm>
            <a:off x="548640" y="2103120"/>
            <a:ext cx="2130552" cy="3566160"/>
          </a:xfrm>
          <a:prstGeom prst="roundRect">
            <a:avLst>
              <a:gd name="adj" fmla="val 3863"/>
            </a:avLst>
          </a:prstGeom>
          <a:solidFill>
            <a:srgbClr val="0B1E3D"/>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5" name="Shape 3"/>
          <p:cNvSpPr/>
          <p:nvPr/>
        </p:nvSpPr>
        <p:spPr>
          <a:xfrm>
            <a:off x="731520" y="2331720"/>
            <a:ext cx="502920" cy="502920"/>
          </a:xfrm>
          <a:prstGeom prst="roundRect">
            <a:avLst>
              <a:gd name="adj" fmla="val 14545"/>
            </a:avLst>
          </a:prstGeom>
          <a:solidFill>
            <a:srgbClr val="0B1E3D"/>
          </a:solidFill>
          <a:ln/>
        </p:spPr>
      </p:sp>
      <p:sp>
        <p:nvSpPr>
          <p:cNvPr id="6" name="Text 4"/>
          <p:cNvSpPr/>
          <p:nvPr/>
        </p:nvSpPr>
        <p:spPr>
          <a:xfrm>
            <a:off x="731520"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731520" y="2971800"/>
            <a:ext cx="1764792" cy="68580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POC</a:t>
            </a:r>
            <a:endParaRPr lang="en-US" sz="1400" dirty="0"/>
          </a:p>
        </p:txBody>
      </p:sp>
      <p:sp>
        <p:nvSpPr>
          <p:cNvPr id="8" name="Text 6"/>
          <p:cNvSpPr/>
          <p:nvPr/>
        </p:nvSpPr>
        <p:spPr>
          <a:xfrm>
            <a:off x="731520" y="3611880"/>
            <a:ext cx="1764792" cy="1920240"/>
          </a:xfrm>
          <a:prstGeom prst="rect">
            <a:avLst/>
          </a:prstGeom>
          <a:noFill/>
          <a:ln/>
        </p:spPr>
        <p:txBody>
          <a:bodyPr wrap="square" lIns="0" tIns="0" rIns="0" bIns="0" rtlCol="0" anchor="ctr"/>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This repository</a:t>
            </a:r>
            <a:endParaRPr lang="en-US" sz="1050" dirty="0"/>
          </a:p>
        </p:txBody>
      </p:sp>
      <p:sp>
        <p:nvSpPr>
          <p:cNvPr id="9" name="Text 7"/>
          <p:cNvSpPr/>
          <p:nvPr/>
        </p:nvSpPr>
        <p:spPr>
          <a:xfrm>
            <a:off x="2679192" y="3657600"/>
            <a:ext cx="128016" cy="457200"/>
          </a:xfrm>
          <a:prstGeom prst="rect">
            <a:avLst/>
          </a:prstGeom>
          <a:noFill/>
          <a:ln/>
        </p:spPr>
        <p:txBody>
          <a:bodyPr wrap="square" lIns="0" tIns="0" rIns="0" bIns="0" rtlCol="0" anchor="ctr"/>
          <a:lstStyle/>
          <a:p>
            <a:pPr algn="ctr" indent="0" marL="0">
              <a:buNone/>
            </a:pPr>
            <a:r>
              <a:rPr lang="en-US" sz="1400" dirty="0">
                <a:solidFill>
                  <a:srgbClr val="5B6472"/>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807208" y="2103120"/>
            <a:ext cx="2130552" cy="3566160"/>
          </a:xfrm>
          <a:prstGeom prst="roundRect">
            <a:avLst>
              <a:gd name="adj" fmla="val 3863"/>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1" name="Shape 9"/>
          <p:cNvSpPr/>
          <p:nvPr/>
        </p:nvSpPr>
        <p:spPr>
          <a:xfrm>
            <a:off x="2990088" y="2331720"/>
            <a:ext cx="502920" cy="502920"/>
          </a:xfrm>
          <a:prstGeom prst="roundRect">
            <a:avLst>
              <a:gd name="adj" fmla="val 14545"/>
            </a:avLst>
          </a:prstGeom>
          <a:solidFill>
            <a:srgbClr val="2F6FEB"/>
          </a:solidFill>
          <a:ln/>
        </p:spPr>
      </p:sp>
      <p:sp>
        <p:nvSpPr>
          <p:cNvPr id="12" name="Text 10"/>
          <p:cNvSpPr/>
          <p:nvPr/>
        </p:nvSpPr>
        <p:spPr>
          <a:xfrm>
            <a:off x="299008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2990088" y="2971800"/>
            <a:ext cx="1764792" cy="685800"/>
          </a:xfrm>
          <a:prstGeom prst="rect">
            <a:avLst/>
          </a:prstGeom>
          <a:noFill/>
          <a:ln/>
        </p:spPr>
        <p:txBody>
          <a:bodyPr wrap="square" lIns="0" tIns="0" rIns="0" bIns="0" rtlCol="0" anchor="ctr"/>
          <a:lstStyle/>
          <a:p>
            <a:pPr indent="0" marL="0">
              <a:buNone/>
            </a:pPr>
            <a:r>
              <a:rPr lang="en-US" sz="1400" b="1" dirty="0">
                <a:solidFill>
                  <a:srgbClr val="0B1E3D"/>
                </a:solidFill>
                <a:latin typeface="Cambria" pitchFamily="34" charset="0"/>
                <a:ea typeface="Cambria" pitchFamily="34" charset="-122"/>
                <a:cs typeface="Cambria" pitchFamily="34" charset="-120"/>
              </a:rPr>
              <a:t>Production MVP</a:t>
            </a:r>
            <a:endParaRPr lang="en-US" sz="1400" dirty="0"/>
          </a:p>
        </p:txBody>
      </p:sp>
      <p:sp>
        <p:nvSpPr>
          <p:cNvPr id="14" name="Text 12"/>
          <p:cNvSpPr/>
          <p:nvPr/>
        </p:nvSpPr>
        <p:spPr>
          <a:xfrm>
            <a:off x="2990088" y="3611880"/>
            <a:ext cx="1764792" cy="1920240"/>
          </a:xfrm>
          <a:prstGeom prst="rect">
            <a:avLst/>
          </a:prstGeom>
          <a:noFill/>
          <a:ln/>
        </p:spPr>
        <p:txBody>
          <a:bodyPr wrap="square" lIns="0" tIns="0" rIns="0" bIns="0" rtlCol="0" anchor="ctr"/>
          <a:lstStyle/>
          <a:p>
            <a:pPr indent="0" marL="0">
              <a:lnSpc>
                <a:spcPct val="120000"/>
              </a:lnSpc>
              <a:buNone/>
            </a:pPr>
            <a:r>
              <a:rPr lang="en-US" sz="1050" dirty="0">
                <a:solidFill>
                  <a:srgbClr val="5B6472"/>
                </a:solidFill>
                <a:latin typeface="Calibri" pitchFamily="34" charset="0"/>
                <a:ea typeface="Calibri" pitchFamily="34" charset="-122"/>
                <a:cs typeface="Calibri" pitchFamily="34" charset="-120"/>
              </a:rPr>
              <a:t>Persistent store, real comms, pilot operator</a:t>
            </a:r>
            <a:endParaRPr lang="en-US" sz="1050" dirty="0"/>
          </a:p>
        </p:txBody>
      </p:sp>
      <p:sp>
        <p:nvSpPr>
          <p:cNvPr id="15" name="Text 13"/>
          <p:cNvSpPr/>
          <p:nvPr/>
        </p:nvSpPr>
        <p:spPr>
          <a:xfrm>
            <a:off x="4937760" y="3657600"/>
            <a:ext cx="128016" cy="457200"/>
          </a:xfrm>
          <a:prstGeom prst="rect">
            <a:avLst/>
          </a:prstGeom>
          <a:noFill/>
          <a:ln/>
        </p:spPr>
        <p:txBody>
          <a:bodyPr wrap="square" lIns="0" tIns="0" rIns="0" bIns="0" rtlCol="0" anchor="ctr"/>
          <a:lstStyle/>
          <a:p>
            <a:pPr algn="ctr" indent="0" marL="0">
              <a:buNone/>
            </a:pPr>
            <a:r>
              <a:rPr lang="en-US" sz="1400" dirty="0">
                <a:solidFill>
                  <a:srgbClr val="5B6472"/>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5065776" y="2103120"/>
            <a:ext cx="2130552" cy="3566160"/>
          </a:xfrm>
          <a:prstGeom prst="roundRect">
            <a:avLst>
              <a:gd name="adj" fmla="val 3863"/>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7" name="Shape 15"/>
          <p:cNvSpPr/>
          <p:nvPr/>
        </p:nvSpPr>
        <p:spPr>
          <a:xfrm>
            <a:off x="5248656" y="2331720"/>
            <a:ext cx="502920" cy="502920"/>
          </a:xfrm>
          <a:prstGeom prst="roundRect">
            <a:avLst>
              <a:gd name="adj" fmla="val 14545"/>
            </a:avLst>
          </a:prstGeom>
          <a:solidFill>
            <a:srgbClr val="6B4FA0"/>
          </a:solidFill>
          <a:ln/>
        </p:spPr>
      </p:sp>
      <p:sp>
        <p:nvSpPr>
          <p:cNvPr id="18" name="Text 16"/>
          <p:cNvSpPr/>
          <p:nvPr/>
        </p:nvSpPr>
        <p:spPr>
          <a:xfrm>
            <a:off x="5248656"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5248656" y="2971800"/>
            <a:ext cx="1764792" cy="685800"/>
          </a:xfrm>
          <a:prstGeom prst="rect">
            <a:avLst/>
          </a:prstGeom>
          <a:noFill/>
          <a:ln/>
        </p:spPr>
        <p:txBody>
          <a:bodyPr wrap="square" lIns="0" tIns="0" rIns="0" bIns="0" rtlCol="0" anchor="ctr"/>
          <a:lstStyle/>
          <a:p>
            <a:pPr indent="0" marL="0">
              <a:buNone/>
            </a:pPr>
            <a:r>
              <a:rPr lang="en-US" sz="1400" b="1" dirty="0">
                <a:solidFill>
                  <a:srgbClr val="0B1E3D"/>
                </a:solidFill>
                <a:latin typeface="Cambria" pitchFamily="34" charset="0"/>
                <a:ea typeface="Cambria" pitchFamily="34" charset="-122"/>
                <a:cs typeface="Cambria" pitchFamily="34" charset="-120"/>
              </a:rPr>
              <a:t>Integrations</a:t>
            </a:r>
            <a:endParaRPr lang="en-US" sz="1400" dirty="0"/>
          </a:p>
        </p:txBody>
      </p:sp>
      <p:sp>
        <p:nvSpPr>
          <p:cNvPr id="20" name="Text 18"/>
          <p:cNvSpPr/>
          <p:nvPr/>
        </p:nvSpPr>
        <p:spPr>
          <a:xfrm>
            <a:off x="5248656" y="3611880"/>
            <a:ext cx="1764792" cy="1920240"/>
          </a:xfrm>
          <a:prstGeom prst="rect">
            <a:avLst/>
          </a:prstGeom>
          <a:noFill/>
          <a:ln/>
        </p:spPr>
        <p:txBody>
          <a:bodyPr wrap="square" lIns="0" tIns="0" rIns="0" bIns="0" rtlCol="0" anchor="ctr"/>
          <a:lstStyle/>
          <a:p>
            <a:pPr indent="0" marL="0">
              <a:lnSpc>
                <a:spcPct val="120000"/>
              </a:lnSpc>
              <a:buNone/>
            </a:pPr>
            <a:r>
              <a:rPr lang="en-US" sz="1050" dirty="0">
                <a:solidFill>
                  <a:srgbClr val="5B6472"/>
                </a:solidFill>
                <a:latin typeface="Calibri" pitchFamily="34" charset="0"/>
                <a:ea typeface="Calibri" pitchFamily="34" charset="-122"/>
                <a:cs typeface="Calibri" pitchFamily="34" charset="-120"/>
              </a:rPr>
              <a:t>TMS, telematics, routing, carrier systems</a:t>
            </a:r>
            <a:endParaRPr lang="en-US" sz="1050" dirty="0"/>
          </a:p>
        </p:txBody>
      </p:sp>
      <p:sp>
        <p:nvSpPr>
          <p:cNvPr id="21" name="Text 19"/>
          <p:cNvSpPr/>
          <p:nvPr/>
        </p:nvSpPr>
        <p:spPr>
          <a:xfrm>
            <a:off x="7196328" y="3657600"/>
            <a:ext cx="128016" cy="457200"/>
          </a:xfrm>
          <a:prstGeom prst="rect">
            <a:avLst/>
          </a:prstGeom>
          <a:noFill/>
          <a:ln/>
        </p:spPr>
        <p:txBody>
          <a:bodyPr wrap="square" lIns="0" tIns="0" rIns="0" bIns="0" rtlCol="0" anchor="ctr"/>
          <a:lstStyle/>
          <a:p>
            <a:pPr algn="ctr" indent="0" marL="0">
              <a:buNone/>
            </a:pPr>
            <a:r>
              <a:rPr lang="en-US" sz="1400" dirty="0">
                <a:solidFill>
                  <a:srgbClr val="5B6472"/>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7324344" y="2103120"/>
            <a:ext cx="2130552" cy="3566160"/>
          </a:xfrm>
          <a:prstGeom prst="roundRect">
            <a:avLst>
              <a:gd name="adj" fmla="val 3863"/>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23" name="Shape 21"/>
          <p:cNvSpPr/>
          <p:nvPr/>
        </p:nvSpPr>
        <p:spPr>
          <a:xfrm>
            <a:off x="7507224" y="2331720"/>
            <a:ext cx="502920" cy="502920"/>
          </a:xfrm>
          <a:prstGeom prst="roundRect">
            <a:avLst>
              <a:gd name="adj" fmla="val 14545"/>
            </a:avLst>
          </a:prstGeom>
          <a:solidFill>
            <a:srgbClr val="E8942C"/>
          </a:solidFill>
          <a:ln/>
        </p:spPr>
      </p:sp>
      <p:sp>
        <p:nvSpPr>
          <p:cNvPr id="24" name="Text 22"/>
          <p:cNvSpPr/>
          <p:nvPr/>
        </p:nvSpPr>
        <p:spPr>
          <a:xfrm>
            <a:off x="7507224"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p:nvPr/>
        </p:nvSpPr>
        <p:spPr>
          <a:xfrm>
            <a:off x="7507224" y="2971800"/>
            <a:ext cx="1764792" cy="685800"/>
          </a:xfrm>
          <a:prstGeom prst="rect">
            <a:avLst/>
          </a:prstGeom>
          <a:noFill/>
          <a:ln/>
        </p:spPr>
        <p:txBody>
          <a:bodyPr wrap="square" lIns="0" tIns="0" rIns="0" bIns="0" rtlCol="0" anchor="ctr"/>
          <a:lstStyle/>
          <a:p>
            <a:pPr indent="0" marL="0">
              <a:buNone/>
            </a:pPr>
            <a:r>
              <a:rPr lang="en-US" sz="1400" b="1" dirty="0">
                <a:solidFill>
                  <a:srgbClr val="0B1E3D"/>
                </a:solidFill>
                <a:latin typeface="Cambria" pitchFamily="34" charset="0"/>
                <a:ea typeface="Cambria" pitchFamily="34" charset="-122"/>
                <a:cs typeface="Cambria" pitchFamily="34" charset="-120"/>
              </a:rPr>
              <a:t>Network Intelligence</a:t>
            </a:r>
            <a:endParaRPr lang="en-US" sz="1400" dirty="0"/>
          </a:p>
        </p:txBody>
      </p:sp>
      <p:sp>
        <p:nvSpPr>
          <p:cNvPr id="26" name="Text 24"/>
          <p:cNvSpPr/>
          <p:nvPr/>
        </p:nvSpPr>
        <p:spPr>
          <a:xfrm>
            <a:off x="7507224" y="3611880"/>
            <a:ext cx="1764792" cy="1920240"/>
          </a:xfrm>
          <a:prstGeom prst="rect">
            <a:avLst/>
          </a:prstGeom>
          <a:noFill/>
          <a:ln/>
        </p:spPr>
        <p:txBody>
          <a:bodyPr wrap="square" lIns="0" tIns="0" rIns="0" bIns="0" rtlCol="0" anchor="ctr"/>
          <a:lstStyle/>
          <a:p>
            <a:pPr indent="0" marL="0">
              <a:lnSpc>
                <a:spcPct val="120000"/>
              </a:lnSpc>
              <a:buNone/>
            </a:pPr>
            <a:r>
              <a:rPr lang="en-US" sz="1050" dirty="0">
                <a:solidFill>
                  <a:srgbClr val="5B6472"/>
                </a:solidFill>
                <a:latin typeface="Calibri" pitchFamily="34" charset="0"/>
                <a:ea typeface="Calibri" pitchFamily="34" charset="-122"/>
                <a:cs typeface="Calibri" pitchFamily="34" charset="-120"/>
              </a:rPr>
              <a:t>Predictive detection, capacity forecasting</a:t>
            </a:r>
            <a:endParaRPr lang="en-US" sz="1050" dirty="0"/>
          </a:p>
        </p:txBody>
      </p:sp>
      <p:sp>
        <p:nvSpPr>
          <p:cNvPr id="27" name="Text 25"/>
          <p:cNvSpPr/>
          <p:nvPr/>
        </p:nvSpPr>
        <p:spPr>
          <a:xfrm>
            <a:off x="9454896" y="3657600"/>
            <a:ext cx="128016" cy="457200"/>
          </a:xfrm>
          <a:prstGeom prst="rect">
            <a:avLst/>
          </a:prstGeom>
          <a:noFill/>
          <a:ln/>
        </p:spPr>
        <p:txBody>
          <a:bodyPr wrap="square" lIns="0" tIns="0" rIns="0" bIns="0" rtlCol="0" anchor="ctr"/>
          <a:lstStyle/>
          <a:p>
            <a:pPr algn="ctr" indent="0" marL="0">
              <a:buNone/>
            </a:pPr>
            <a:r>
              <a:rPr lang="en-US" sz="1400" dirty="0">
                <a:solidFill>
                  <a:srgbClr val="5B6472"/>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9582912" y="2103120"/>
            <a:ext cx="2130552" cy="3566160"/>
          </a:xfrm>
          <a:prstGeom prst="roundRect">
            <a:avLst>
              <a:gd name="adj" fmla="val 3863"/>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29" name="Shape 27"/>
          <p:cNvSpPr/>
          <p:nvPr/>
        </p:nvSpPr>
        <p:spPr>
          <a:xfrm>
            <a:off x="9765792" y="2331720"/>
            <a:ext cx="502920" cy="502920"/>
          </a:xfrm>
          <a:prstGeom prst="roundRect">
            <a:avLst>
              <a:gd name="adj" fmla="val 14545"/>
            </a:avLst>
          </a:prstGeom>
          <a:solidFill>
            <a:srgbClr val="17845A"/>
          </a:solidFill>
          <a:ln/>
        </p:spPr>
      </p:sp>
      <p:sp>
        <p:nvSpPr>
          <p:cNvPr id="30" name="Text 28"/>
          <p:cNvSpPr/>
          <p:nvPr/>
        </p:nvSpPr>
        <p:spPr>
          <a:xfrm>
            <a:off x="9765792"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1" name="Text 29"/>
          <p:cNvSpPr/>
          <p:nvPr/>
        </p:nvSpPr>
        <p:spPr>
          <a:xfrm>
            <a:off x="9765792" y="2971800"/>
            <a:ext cx="1764792" cy="685800"/>
          </a:xfrm>
          <a:prstGeom prst="rect">
            <a:avLst/>
          </a:prstGeom>
          <a:noFill/>
          <a:ln/>
        </p:spPr>
        <p:txBody>
          <a:bodyPr wrap="square" lIns="0" tIns="0" rIns="0" bIns="0" rtlCol="0" anchor="ctr"/>
          <a:lstStyle/>
          <a:p>
            <a:pPr indent="0" marL="0">
              <a:buNone/>
            </a:pPr>
            <a:r>
              <a:rPr lang="en-US" sz="1400" b="1" dirty="0">
                <a:solidFill>
                  <a:srgbClr val="0B1E3D"/>
                </a:solidFill>
                <a:latin typeface="Cambria" pitchFamily="34" charset="0"/>
                <a:ea typeface="Cambria" pitchFamily="34" charset="-122"/>
                <a:cs typeface="Cambria" pitchFamily="34" charset="-120"/>
              </a:rPr>
              <a:t>Autonomous Operations</a:t>
            </a:r>
            <a:endParaRPr lang="en-US" sz="1400" dirty="0"/>
          </a:p>
        </p:txBody>
      </p:sp>
      <p:sp>
        <p:nvSpPr>
          <p:cNvPr id="32" name="Text 30"/>
          <p:cNvSpPr/>
          <p:nvPr/>
        </p:nvSpPr>
        <p:spPr>
          <a:xfrm>
            <a:off x="9765792" y="3611880"/>
            <a:ext cx="1764792" cy="1920240"/>
          </a:xfrm>
          <a:prstGeom prst="rect">
            <a:avLst/>
          </a:prstGeom>
          <a:noFill/>
          <a:ln/>
        </p:spPr>
        <p:txBody>
          <a:bodyPr wrap="square" lIns="0" tIns="0" rIns="0" bIns="0" rtlCol="0" anchor="ctr"/>
          <a:lstStyle/>
          <a:p>
            <a:pPr indent="0" marL="0">
              <a:lnSpc>
                <a:spcPct val="120000"/>
              </a:lnSpc>
              <a:buNone/>
            </a:pPr>
            <a:r>
              <a:rPr lang="en-US" sz="1050" dirty="0">
                <a:solidFill>
                  <a:srgbClr val="5B6472"/>
                </a:solidFill>
                <a:latin typeface="Calibri" pitchFamily="34" charset="0"/>
                <a:ea typeface="Calibri" pitchFamily="34" charset="-122"/>
                <a:cs typeface="Calibri" pitchFamily="34" charset="-120"/>
              </a:rPr>
              <a:t>Expanded autonomy, governed throughout</a:t>
            </a:r>
            <a:endParaRPr lang="en-US" sz="1050" dirty="0"/>
          </a:p>
        </p:txBody>
      </p:sp>
      <p:sp>
        <p:nvSpPr>
          <p:cNvPr id="33" name="Text 31"/>
          <p:cNvSpPr/>
          <p:nvPr/>
        </p:nvSpPr>
        <p:spPr>
          <a:xfrm>
            <a:off x="548640" y="5897880"/>
            <a:ext cx="1060704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Full milestones, dependencies, risks, and success measures per phase: docs/product/roadmap.md</a:t>
            </a:r>
            <a:endParaRPr lang="en-US" sz="1050" dirty="0"/>
          </a:p>
        </p:txBody>
      </p:sp>
      <p:sp>
        <p:nvSpPr>
          <p:cNvPr id="34" name="Text 32"/>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35" name="Text 33"/>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indent="0" marL="0">
              <a:buNone/>
            </a:pPr>
            <a:r>
              <a:rPr lang="en-US" sz="1100" b="1" spc="200" kern="0" dirty="0">
                <a:solidFill>
                  <a:srgbClr val="2F6FEB"/>
                </a:solidFill>
                <a:latin typeface="Calibri" pitchFamily="34" charset="0"/>
                <a:ea typeface="Calibri" pitchFamily="34" charset="-122"/>
                <a:cs typeface="Calibri" pitchFamily="34" charset="-120"/>
              </a:rPr>
              <a:t>KPIS</a:t>
            </a:r>
            <a:endParaRPr lang="en-US" sz="1100" dirty="0"/>
          </a:p>
        </p:txBody>
      </p:sp>
      <p:sp>
        <p:nvSpPr>
          <p:cNvPr id="3" name="Text 1"/>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0B1E3D"/>
                </a:solidFill>
                <a:latin typeface="Cambria" pitchFamily="34" charset="0"/>
                <a:ea typeface="Cambria" pitchFamily="34" charset="-122"/>
                <a:cs typeface="Cambria" pitchFamily="34" charset="-120"/>
              </a:rPr>
              <a:t>Judged on operational outcomes, not a generic “AI accuracy” proxy</a:t>
            </a:r>
            <a:endParaRPr lang="en-US" sz="3000" dirty="0"/>
          </a:p>
        </p:txBody>
      </p:sp>
      <p:sp>
        <p:nvSpPr>
          <p:cNvPr id="4" name="Shape 2"/>
          <p:cNvSpPr/>
          <p:nvPr/>
        </p:nvSpPr>
        <p:spPr>
          <a:xfrm>
            <a:off x="548640" y="1874520"/>
            <a:ext cx="2697480" cy="1965960"/>
          </a:xfrm>
          <a:prstGeom prst="roundRect">
            <a:avLst>
              <a:gd name="adj" fmla="val 418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5" name="Shape 3"/>
          <p:cNvSpPr/>
          <p:nvPr/>
        </p:nvSpPr>
        <p:spPr>
          <a:xfrm>
            <a:off x="749808" y="2075688"/>
            <a:ext cx="365760" cy="73152"/>
          </a:xfrm>
          <a:prstGeom prst="roundRect">
            <a:avLst>
              <a:gd name="adj" fmla="val 50000"/>
            </a:avLst>
          </a:prstGeom>
          <a:solidFill>
            <a:srgbClr val="2F6FEB"/>
          </a:solidFill>
          <a:ln/>
        </p:spPr>
      </p:sp>
      <p:sp>
        <p:nvSpPr>
          <p:cNvPr id="6" name="Text 4"/>
          <p:cNvSpPr/>
          <p:nvPr/>
        </p:nvSpPr>
        <p:spPr>
          <a:xfrm>
            <a:off x="749808" y="2258568"/>
            <a:ext cx="2295144" cy="777240"/>
          </a:xfrm>
          <a:prstGeom prst="rect">
            <a:avLst/>
          </a:prstGeom>
          <a:noFill/>
          <a:ln/>
        </p:spPr>
        <p:txBody>
          <a:bodyPr wrap="square" lIns="0" tIns="0" rIns="0" bIns="0" rtlCol="0" anchor="ctr"/>
          <a:lstStyle/>
          <a:p>
            <a:pPr indent="0" marL="0">
              <a:lnSpc>
                <a:spcPct val="110000"/>
              </a:lnSpc>
              <a:buNone/>
            </a:pPr>
            <a:r>
              <a:rPr lang="en-US" sz="1350" b="1" dirty="0">
                <a:solidFill>
                  <a:srgbClr val="0B1E3D"/>
                </a:solidFill>
                <a:latin typeface="Cambria" pitchFamily="34" charset="0"/>
                <a:ea typeface="Cambria" pitchFamily="34" charset="-122"/>
                <a:cs typeface="Cambria" pitchFamily="34" charset="-120"/>
              </a:rPr>
              <a:t>Exception Resolution Time</a:t>
            </a:r>
            <a:endParaRPr lang="en-US" sz="1350" dirty="0"/>
          </a:p>
        </p:txBody>
      </p:sp>
      <p:sp>
        <p:nvSpPr>
          <p:cNvPr id="7" name="Text 5"/>
          <p:cNvSpPr/>
          <p:nvPr/>
        </p:nvSpPr>
        <p:spPr>
          <a:xfrm>
            <a:off x="749808" y="3044952"/>
            <a:ext cx="2295144" cy="685800"/>
          </a:xfrm>
          <a:prstGeom prst="rect">
            <a:avLst/>
          </a:prstGeom>
          <a:noFill/>
          <a:ln/>
        </p:spPr>
        <p:txBody>
          <a:bodyPr wrap="square" lIns="0" tIns="0" rIns="0" bIns="0" rtlCol="0" anchor="ctr"/>
          <a:lstStyle/>
          <a:p>
            <a:pPr indent="0" marL="0">
              <a:lnSpc>
                <a:spcPct val="115000"/>
              </a:lnSpc>
              <a:buNone/>
            </a:pPr>
            <a:r>
              <a:rPr lang="en-US" sz="1000" dirty="0">
                <a:solidFill>
                  <a:srgbClr val="5B6472"/>
                </a:solidFill>
                <a:latin typeface="Calibri" pitchFamily="34" charset="0"/>
                <a:ea typeface="Calibri" pitchFamily="34" charset="-122"/>
                <a:cs typeface="Calibri" pitchFamily="34" charset="-120"/>
              </a:rPr>
              <a:t>Detection → resolved/escalated</a:t>
            </a:r>
            <a:endParaRPr lang="en-US" sz="1000" dirty="0"/>
          </a:p>
        </p:txBody>
      </p:sp>
      <p:sp>
        <p:nvSpPr>
          <p:cNvPr id="8" name="Shape 6"/>
          <p:cNvSpPr/>
          <p:nvPr/>
        </p:nvSpPr>
        <p:spPr>
          <a:xfrm>
            <a:off x="3383280" y="1874520"/>
            <a:ext cx="2697480" cy="1965960"/>
          </a:xfrm>
          <a:prstGeom prst="roundRect">
            <a:avLst>
              <a:gd name="adj" fmla="val 418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9" name="Shape 7"/>
          <p:cNvSpPr/>
          <p:nvPr/>
        </p:nvSpPr>
        <p:spPr>
          <a:xfrm>
            <a:off x="3584448" y="2075688"/>
            <a:ext cx="365760" cy="73152"/>
          </a:xfrm>
          <a:prstGeom prst="roundRect">
            <a:avLst>
              <a:gd name="adj" fmla="val 50000"/>
            </a:avLst>
          </a:prstGeom>
          <a:solidFill>
            <a:srgbClr val="2F6FEB"/>
          </a:solidFill>
          <a:ln/>
        </p:spPr>
      </p:sp>
      <p:sp>
        <p:nvSpPr>
          <p:cNvPr id="10" name="Text 8"/>
          <p:cNvSpPr/>
          <p:nvPr/>
        </p:nvSpPr>
        <p:spPr>
          <a:xfrm>
            <a:off x="3584448" y="2258568"/>
            <a:ext cx="2295144" cy="777240"/>
          </a:xfrm>
          <a:prstGeom prst="rect">
            <a:avLst/>
          </a:prstGeom>
          <a:noFill/>
          <a:ln/>
        </p:spPr>
        <p:txBody>
          <a:bodyPr wrap="square" lIns="0" tIns="0" rIns="0" bIns="0" rtlCol="0" anchor="ctr"/>
          <a:lstStyle/>
          <a:p>
            <a:pPr indent="0" marL="0">
              <a:lnSpc>
                <a:spcPct val="110000"/>
              </a:lnSpc>
              <a:buNone/>
            </a:pPr>
            <a:r>
              <a:rPr lang="en-US" sz="1350" b="1" dirty="0">
                <a:solidFill>
                  <a:srgbClr val="0B1E3D"/>
                </a:solidFill>
                <a:latin typeface="Cambria" pitchFamily="34" charset="0"/>
                <a:ea typeface="Cambria" pitchFamily="34" charset="-122"/>
                <a:cs typeface="Cambria" pitchFamily="34" charset="-120"/>
              </a:rPr>
              <a:t>Autonomous Resolution Rate</a:t>
            </a:r>
            <a:endParaRPr lang="en-US" sz="1350" dirty="0"/>
          </a:p>
        </p:txBody>
      </p:sp>
      <p:sp>
        <p:nvSpPr>
          <p:cNvPr id="11" name="Text 9"/>
          <p:cNvSpPr/>
          <p:nvPr/>
        </p:nvSpPr>
        <p:spPr>
          <a:xfrm>
            <a:off x="3584448" y="3044952"/>
            <a:ext cx="2295144" cy="685800"/>
          </a:xfrm>
          <a:prstGeom prst="rect">
            <a:avLst/>
          </a:prstGeom>
          <a:noFill/>
          <a:ln/>
        </p:spPr>
        <p:txBody>
          <a:bodyPr wrap="square" lIns="0" tIns="0" rIns="0" bIns="0" rtlCol="0" anchor="ctr"/>
          <a:lstStyle/>
          <a:p>
            <a:pPr indent="0" marL="0">
              <a:lnSpc>
                <a:spcPct val="115000"/>
              </a:lnSpc>
              <a:buNone/>
            </a:pPr>
            <a:r>
              <a:rPr lang="en-US" sz="1000" dirty="0">
                <a:solidFill>
                  <a:srgbClr val="5B6472"/>
                </a:solidFill>
                <a:latin typeface="Calibri" pitchFamily="34" charset="0"/>
                <a:ea typeface="Calibri" pitchFamily="34" charset="-122"/>
                <a:cs typeface="Calibri" pitchFamily="34" charset="-120"/>
              </a:rPr>
              <a:t>% resolved without human approval</a:t>
            </a:r>
            <a:endParaRPr lang="en-US" sz="1000" dirty="0"/>
          </a:p>
        </p:txBody>
      </p:sp>
      <p:sp>
        <p:nvSpPr>
          <p:cNvPr id="12" name="Shape 10"/>
          <p:cNvSpPr/>
          <p:nvPr/>
        </p:nvSpPr>
        <p:spPr>
          <a:xfrm>
            <a:off x="6217920" y="1874520"/>
            <a:ext cx="2697480" cy="1965960"/>
          </a:xfrm>
          <a:prstGeom prst="roundRect">
            <a:avLst>
              <a:gd name="adj" fmla="val 418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3" name="Shape 11"/>
          <p:cNvSpPr/>
          <p:nvPr/>
        </p:nvSpPr>
        <p:spPr>
          <a:xfrm>
            <a:off x="6419088" y="2075688"/>
            <a:ext cx="365760" cy="73152"/>
          </a:xfrm>
          <a:prstGeom prst="roundRect">
            <a:avLst>
              <a:gd name="adj" fmla="val 50000"/>
            </a:avLst>
          </a:prstGeom>
          <a:solidFill>
            <a:srgbClr val="2F6FEB"/>
          </a:solidFill>
          <a:ln/>
        </p:spPr>
      </p:sp>
      <p:sp>
        <p:nvSpPr>
          <p:cNvPr id="14" name="Text 12"/>
          <p:cNvSpPr/>
          <p:nvPr/>
        </p:nvSpPr>
        <p:spPr>
          <a:xfrm>
            <a:off x="6419088" y="2258568"/>
            <a:ext cx="2295144" cy="777240"/>
          </a:xfrm>
          <a:prstGeom prst="rect">
            <a:avLst/>
          </a:prstGeom>
          <a:noFill/>
          <a:ln/>
        </p:spPr>
        <p:txBody>
          <a:bodyPr wrap="square" lIns="0" tIns="0" rIns="0" bIns="0" rtlCol="0" anchor="ctr"/>
          <a:lstStyle/>
          <a:p>
            <a:pPr indent="0" marL="0">
              <a:lnSpc>
                <a:spcPct val="110000"/>
              </a:lnSpc>
              <a:buNone/>
            </a:pPr>
            <a:r>
              <a:rPr lang="en-US" sz="1350" b="1" dirty="0">
                <a:solidFill>
                  <a:srgbClr val="0B1E3D"/>
                </a:solidFill>
                <a:latin typeface="Cambria" pitchFamily="34" charset="0"/>
                <a:ea typeface="Cambria" pitchFamily="34" charset="-122"/>
                <a:cs typeface="Cambria" pitchFamily="34" charset="-120"/>
              </a:rPr>
              <a:t>On-Time Delivery Rate</a:t>
            </a:r>
            <a:endParaRPr lang="en-US" sz="1350" dirty="0"/>
          </a:p>
        </p:txBody>
      </p:sp>
      <p:sp>
        <p:nvSpPr>
          <p:cNvPr id="15" name="Text 13"/>
          <p:cNvSpPr/>
          <p:nvPr/>
        </p:nvSpPr>
        <p:spPr>
          <a:xfrm>
            <a:off x="6419088" y="3044952"/>
            <a:ext cx="2295144" cy="685800"/>
          </a:xfrm>
          <a:prstGeom prst="rect">
            <a:avLst/>
          </a:prstGeom>
          <a:noFill/>
          <a:ln/>
        </p:spPr>
        <p:txBody>
          <a:bodyPr wrap="square" lIns="0" tIns="0" rIns="0" bIns="0" rtlCol="0" anchor="ctr"/>
          <a:lstStyle/>
          <a:p>
            <a:pPr indent="0" marL="0">
              <a:lnSpc>
                <a:spcPct val="115000"/>
              </a:lnSpc>
              <a:buNone/>
            </a:pPr>
            <a:r>
              <a:rPr lang="en-US" sz="1000" dirty="0">
                <a:solidFill>
                  <a:srgbClr val="5B6472"/>
                </a:solidFill>
                <a:latin typeface="Calibri" pitchFamily="34" charset="0"/>
                <a:ea typeface="Calibri" pitchFamily="34" charset="-122"/>
                <a:cs typeface="Calibri" pitchFamily="34" charset="-120"/>
              </a:rPr>
              <a:t>% delivered within window</a:t>
            </a:r>
            <a:endParaRPr lang="en-US" sz="1000" dirty="0"/>
          </a:p>
        </p:txBody>
      </p:sp>
      <p:sp>
        <p:nvSpPr>
          <p:cNvPr id="16" name="Shape 14"/>
          <p:cNvSpPr/>
          <p:nvPr/>
        </p:nvSpPr>
        <p:spPr>
          <a:xfrm>
            <a:off x="9052560" y="1874520"/>
            <a:ext cx="2697480" cy="1965960"/>
          </a:xfrm>
          <a:prstGeom prst="roundRect">
            <a:avLst>
              <a:gd name="adj" fmla="val 418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17" name="Shape 15"/>
          <p:cNvSpPr/>
          <p:nvPr/>
        </p:nvSpPr>
        <p:spPr>
          <a:xfrm>
            <a:off x="9253728" y="2075688"/>
            <a:ext cx="365760" cy="73152"/>
          </a:xfrm>
          <a:prstGeom prst="roundRect">
            <a:avLst>
              <a:gd name="adj" fmla="val 50000"/>
            </a:avLst>
          </a:prstGeom>
          <a:solidFill>
            <a:srgbClr val="2F6FEB"/>
          </a:solidFill>
          <a:ln/>
        </p:spPr>
      </p:sp>
      <p:sp>
        <p:nvSpPr>
          <p:cNvPr id="18" name="Text 16"/>
          <p:cNvSpPr/>
          <p:nvPr/>
        </p:nvSpPr>
        <p:spPr>
          <a:xfrm>
            <a:off x="9253728" y="2258568"/>
            <a:ext cx="2295144" cy="777240"/>
          </a:xfrm>
          <a:prstGeom prst="rect">
            <a:avLst/>
          </a:prstGeom>
          <a:noFill/>
          <a:ln/>
        </p:spPr>
        <p:txBody>
          <a:bodyPr wrap="square" lIns="0" tIns="0" rIns="0" bIns="0" rtlCol="0" anchor="ctr"/>
          <a:lstStyle/>
          <a:p>
            <a:pPr indent="0" marL="0">
              <a:lnSpc>
                <a:spcPct val="110000"/>
              </a:lnSpc>
              <a:buNone/>
            </a:pPr>
            <a:r>
              <a:rPr lang="en-US" sz="1350" b="1" dirty="0">
                <a:solidFill>
                  <a:srgbClr val="0B1E3D"/>
                </a:solidFill>
                <a:latin typeface="Cambria" pitchFamily="34" charset="0"/>
                <a:ea typeface="Cambria" pitchFamily="34" charset="-122"/>
                <a:cs typeface="Cambria" pitchFamily="34" charset="-120"/>
              </a:rPr>
              <a:t>Human Intervention Rate</a:t>
            </a:r>
            <a:endParaRPr lang="en-US" sz="1350" dirty="0"/>
          </a:p>
        </p:txBody>
      </p:sp>
      <p:sp>
        <p:nvSpPr>
          <p:cNvPr id="19" name="Text 17"/>
          <p:cNvSpPr/>
          <p:nvPr/>
        </p:nvSpPr>
        <p:spPr>
          <a:xfrm>
            <a:off x="9253728" y="3044952"/>
            <a:ext cx="2295144" cy="685800"/>
          </a:xfrm>
          <a:prstGeom prst="rect">
            <a:avLst/>
          </a:prstGeom>
          <a:noFill/>
          <a:ln/>
        </p:spPr>
        <p:txBody>
          <a:bodyPr wrap="square" lIns="0" tIns="0" rIns="0" bIns="0" rtlCol="0" anchor="ctr"/>
          <a:lstStyle/>
          <a:p>
            <a:pPr indent="0" marL="0">
              <a:lnSpc>
                <a:spcPct val="115000"/>
              </a:lnSpc>
              <a:buNone/>
            </a:pPr>
            <a:r>
              <a:rPr lang="en-US" sz="1000" dirty="0">
                <a:solidFill>
                  <a:srgbClr val="5B6472"/>
                </a:solidFill>
                <a:latin typeface="Calibri" pitchFamily="34" charset="0"/>
                <a:ea typeface="Calibri" pitchFamily="34" charset="-122"/>
                <a:cs typeface="Calibri" pitchFamily="34" charset="-120"/>
              </a:rPr>
              <a:t>% requiring approval/escalation</a:t>
            </a:r>
            <a:endParaRPr lang="en-US" sz="1000" dirty="0"/>
          </a:p>
        </p:txBody>
      </p:sp>
      <p:sp>
        <p:nvSpPr>
          <p:cNvPr id="20" name="Shape 18"/>
          <p:cNvSpPr/>
          <p:nvPr/>
        </p:nvSpPr>
        <p:spPr>
          <a:xfrm>
            <a:off x="548640" y="3977640"/>
            <a:ext cx="2697480" cy="1965960"/>
          </a:xfrm>
          <a:prstGeom prst="roundRect">
            <a:avLst>
              <a:gd name="adj" fmla="val 418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21" name="Shape 19"/>
          <p:cNvSpPr/>
          <p:nvPr/>
        </p:nvSpPr>
        <p:spPr>
          <a:xfrm>
            <a:off x="749808" y="4178808"/>
            <a:ext cx="365760" cy="73152"/>
          </a:xfrm>
          <a:prstGeom prst="roundRect">
            <a:avLst>
              <a:gd name="adj" fmla="val 50000"/>
            </a:avLst>
          </a:prstGeom>
          <a:solidFill>
            <a:srgbClr val="2F6FEB"/>
          </a:solidFill>
          <a:ln/>
        </p:spPr>
      </p:sp>
      <p:sp>
        <p:nvSpPr>
          <p:cNvPr id="22" name="Text 20"/>
          <p:cNvSpPr/>
          <p:nvPr/>
        </p:nvSpPr>
        <p:spPr>
          <a:xfrm>
            <a:off x="749808" y="4361688"/>
            <a:ext cx="2295144" cy="777240"/>
          </a:xfrm>
          <a:prstGeom prst="rect">
            <a:avLst/>
          </a:prstGeom>
          <a:noFill/>
          <a:ln/>
        </p:spPr>
        <p:txBody>
          <a:bodyPr wrap="square" lIns="0" tIns="0" rIns="0" bIns="0" rtlCol="0" anchor="ctr"/>
          <a:lstStyle/>
          <a:p>
            <a:pPr indent="0" marL="0">
              <a:lnSpc>
                <a:spcPct val="110000"/>
              </a:lnSpc>
              <a:buNone/>
            </a:pPr>
            <a:r>
              <a:rPr lang="en-US" sz="1350" b="1" dirty="0">
                <a:solidFill>
                  <a:srgbClr val="0B1E3D"/>
                </a:solidFill>
                <a:latin typeface="Cambria" pitchFamily="34" charset="0"/>
                <a:ea typeface="Cambria" pitchFamily="34" charset="-122"/>
                <a:cs typeface="Cambria" pitchFamily="34" charset="-120"/>
              </a:rPr>
              <a:t>Agent Action Success Rate</a:t>
            </a:r>
            <a:endParaRPr lang="en-US" sz="1350" dirty="0"/>
          </a:p>
        </p:txBody>
      </p:sp>
      <p:sp>
        <p:nvSpPr>
          <p:cNvPr id="23" name="Text 21"/>
          <p:cNvSpPr/>
          <p:nvPr/>
        </p:nvSpPr>
        <p:spPr>
          <a:xfrm>
            <a:off x="749808" y="5148072"/>
            <a:ext cx="2295144" cy="685800"/>
          </a:xfrm>
          <a:prstGeom prst="rect">
            <a:avLst/>
          </a:prstGeom>
          <a:noFill/>
          <a:ln/>
        </p:spPr>
        <p:txBody>
          <a:bodyPr wrap="square" lIns="0" tIns="0" rIns="0" bIns="0" rtlCol="0" anchor="ctr"/>
          <a:lstStyle/>
          <a:p>
            <a:pPr indent="0" marL="0">
              <a:lnSpc>
                <a:spcPct val="115000"/>
              </a:lnSpc>
              <a:buNone/>
            </a:pPr>
            <a:r>
              <a:rPr lang="en-US" sz="1000" dirty="0">
                <a:solidFill>
                  <a:srgbClr val="5B6472"/>
                </a:solidFill>
                <a:latin typeface="Calibri" pitchFamily="34" charset="0"/>
                <a:ea typeface="Calibri" pitchFamily="34" charset="-122"/>
                <a:cs typeface="Calibri" pitchFamily="34" charset="-120"/>
              </a:rPr>
              <a:t>% tool calls verified on first attempt</a:t>
            </a:r>
            <a:endParaRPr lang="en-US" sz="1000" dirty="0"/>
          </a:p>
        </p:txBody>
      </p:sp>
      <p:sp>
        <p:nvSpPr>
          <p:cNvPr id="24" name="Shape 22"/>
          <p:cNvSpPr/>
          <p:nvPr/>
        </p:nvSpPr>
        <p:spPr>
          <a:xfrm>
            <a:off x="3383280" y="3977640"/>
            <a:ext cx="2697480" cy="1965960"/>
          </a:xfrm>
          <a:prstGeom prst="roundRect">
            <a:avLst>
              <a:gd name="adj" fmla="val 418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25" name="Shape 23"/>
          <p:cNvSpPr/>
          <p:nvPr/>
        </p:nvSpPr>
        <p:spPr>
          <a:xfrm>
            <a:off x="3584448" y="4178808"/>
            <a:ext cx="365760" cy="73152"/>
          </a:xfrm>
          <a:prstGeom prst="roundRect">
            <a:avLst>
              <a:gd name="adj" fmla="val 50000"/>
            </a:avLst>
          </a:prstGeom>
          <a:solidFill>
            <a:srgbClr val="2F6FEB"/>
          </a:solidFill>
          <a:ln/>
        </p:spPr>
      </p:sp>
      <p:sp>
        <p:nvSpPr>
          <p:cNvPr id="26" name="Text 24"/>
          <p:cNvSpPr/>
          <p:nvPr/>
        </p:nvSpPr>
        <p:spPr>
          <a:xfrm>
            <a:off x="3584448" y="4361688"/>
            <a:ext cx="2295144" cy="777240"/>
          </a:xfrm>
          <a:prstGeom prst="rect">
            <a:avLst/>
          </a:prstGeom>
          <a:noFill/>
          <a:ln/>
        </p:spPr>
        <p:txBody>
          <a:bodyPr wrap="square" lIns="0" tIns="0" rIns="0" bIns="0" rtlCol="0" anchor="ctr"/>
          <a:lstStyle/>
          <a:p>
            <a:pPr indent="0" marL="0">
              <a:lnSpc>
                <a:spcPct val="110000"/>
              </a:lnSpc>
              <a:buNone/>
            </a:pPr>
            <a:r>
              <a:rPr lang="en-US" sz="1350" b="1" dirty="0">
                <a:solidFill>
                  <a:srgbClr val="0B1E3D"/>
                </a:solidFill>
                <a:latin typeface="Cambria" pitchFamily="34" charset="0"/>
                <a:ea typeface="Cambria" pitchFamily="34" charset="-122"/>
                <a:cs typeface="Cambria" pitchFamily="34" charset="-120"/>
              </a:rPr>
              <a:t>Cost Avoided</a:t>
            </a:r>
            <a:endParaRPr lang="en-US" sz="1350" dirty="0"/>
          </a:p>
        </p:txBody>
      </p:sp>
      <p:sp>
        <p:nvSpPr>
          <p:cNvPr id="27" name="Text 25"/>
          <p:cNvSpPr/>
          <p:nvPr/>
        </p:nvSpPr>
        <p:spPr>
          <a:xfrm>
            <a:off x="3584448" y="5148072"/>
            <a:ext cx="2295144" cy="685800"/>
          </a:xfrm>
          <a:prstGeom prst="rect">
            <a:avLst/>
          </a:prstGeom>
          <a:noFill/>
          <a:ln/>
        </p:spPr>
        <p:txBody>
          <a:bodyPr wrap="square" lIns="0" tIns="0" rIns="0" bIns="0" rtlCol="0" anchor="ctr"/>
          <a:lstStyle/>
          <a:p>
            <a:pPr indent="0" marL="0">
              <a:lnSpc>
                <a:spcPct val="115000"/>
              </a:lnSpc>
              <a:buNone/>
            </a:pPr>
            <a:r>
              <a:rPr lang="en-US" sz="1000" dirty="0">
                <a:solidFill>
                  <a:srgbClr val="5B6472"/>
                </a:solidFill>
                <a:latin typeface="Calibri" pitchFamily="34" charset="0"/>
                <a:ea typeface="Calibri" pitchFamily="34" charset="-122"/>
                <a:cs typeface="Calibri" pitchFamily="34" charset="-120"/>
              </a:rPr>
              <a:t>Manual-intervention cost avoided per autonomous resolution</a:t>
            </a:r>
            <a:endParaRPr lang="en-US" sz="1000" dirty="0"/>
          </a:p>
        </p:txBody>
      </p:sp>
      <p:sp>
        <p:nvSpPr>
          <p:cNvPr id="28" name="Shape 26"/>
          <p:cNvSpPr/>
          <p:nvPr/>
        </p:nvSpPr>
        <p:spPr>
          <a:xfrm>
            <a:off x="6217920" y="3977640"/>
            <a:ext cx="2697480" cy="1965960"/>
          </a:xfrm>
          <a:prstGeom prst="roundRect">
            <a:avLst>
              <a:gd name="adj" fmla="val 4186"/>
            </a:avLst>
          </a:prstGeom>
          <a:solidFill>
            <a:srgbClr val="FFFFFF"/>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29" name="Shape 27"/>
          <p:cNvSpPr/>
          <p:nvPr/>
        </p:nvSpPr>
        <p:spPr>
          <a:xfrm>
            <a:off x="6419088" y="4178808"/>
            <a:ext cx="365760" cy="73152"/>
          </a:xfrm>
          <a:prstGeom prst="roundRect">
            <a:avLst>
              <a:gd name="adj" fmla="val 50000"/>
            </a:avLst>
          </a:prstGeom>
          <a:solidFill>
            <a:srgbClr val="2F6FEB"/>
          </a:solidFill>
          <a:ln/>
        </p:spPr>
      </p:sp>
      <p:sp>
        <p:nvSpPr>
          <p:cNvPr id="30" name="Text 28"/>
          <p:cNvSpPr/>
          <p:nvPr/>
        </p:nvSpPr>
        <p:spPr>
          <a:xfrm>
            <a:off x="6419088" y="4361688"/>
            <a:ext cx="2295144" cy="777240"/>
          </a:xfrm>
          <a:prstGeom prst="rect">
            <a:avLst/>
          </a:prstGeom>
          <a:noFill/>
          <a:ln/>
        </p:spPr>
        <p:txBody>
          <a:bodyPr wrap="square" lIns="0" tIns="0" rIns="0" bIns="0" rtlCol="0" anchor="ctr"/>
          <a:lstStyle/>
          <a:p>
            <a:pPr indent="0" marL="0">
              <a:lnSpc>
                <a:spcPct val="110000"/>
              </a:lnSpc>
              <a:buNone/>
            </a:pPr>
            <a:r>
              <a:rPr lang="en-US" sz="1350" b="1" dirty="0">
                <a:solidFill>
                  <a:srgbClr val="0B1E3D"/>
                </a:solidFill>
                <a:latin typeface="Cambria" pitchFamily="34" charset="0"/>
                <a:ea typeface="Cambria" pitchFamily="34" charset="-122"/>
                <a:cs typeface="Cambria" pitchFamily="34" charset="-120"/>
              </a:rPr>
              <a:t>SLA Recovery Rate</a:t>
            </a:r>
            <a:endParaRPr lang="en-US" sz="1350" dirty="0"/>
          </a:p>
        </p:txBody>
      </p:sp>
      <p:sp>
        <p:nvSpPr>
          <p:cNvPr id="31" name="Text 29"/>
          <p:cNvSpPr/>
          <p:nvPr/>
        </p:nvSpPr>
        <p:spPr>
          <a:xfrm>
            <a:off x="6419088" y="5148072"/>
            <a:ext cx="2295144" cy="685800"/>
          </a:xfrm>
          <a:prstGeom prst="rect">
            <a:avLst/>
          </a:prstGeom>
          <a:noFill/>
          <a:ln/>
        </p:spPr>
        <p:txBody>
          <a:bodyPr wrap="square" lIns="0" tIns="0" rIns="0" bIns="0" rtlCol="0" anchor="ctr"/>
          <a:lstStyle/>
          <a:p>
            <a:pPr indent="0" marL="0">
              <a:lnSpc>
                <a:spcPct val="115000"/>
              </a:lnSpc>
              <a:buNone/>
            </a:pPr>
            <a:r>
              <a:rPr lang="en-US" sz="1000" dirty="0">
                <a:solidFill>
                  <a:srgbClr val="5B6472"/>
                </a:solidFill>
                <a:latin typeface="Calibri" pitchFamily="34" charset="0"/>
                <a:ea typeface="Calibri" pitchFamily="34" charset="-122"/>
                <a:cs typeface="Calibri" pitchFamily="34" charset="-120"/>
              </a:rPr>
              <a:t>% window violations recovered</a:t>
            </a:r>
            <a:endParaRPr lang="en-US" sz="1000" dirty="0"/>
          </a:p>
        </p:txBody>
      </p:sp>
      <p:sp>
        <p:nvSpPr>
          <p:cNvPr id="32" name="Shape 30"/>
          <p:cNvSpPr/>
          <p:nvPr/>
        </p:nvSpPr>
        <p:spPr>
          <a:xfrm>
            <a:off x="9052560" y="3977640"/>
            <a:ext cx="2697480" cy="1965960"/>
          </a:xfrm>
          <a:prstGeom prst="roundRect">
            <a:avLst>
              <a:gd name="adj" fmla="val 4186"/>
            </a:avLst>
          </a:prstGeom>
          <a:solidFill>
            <a:srgbClr val="0B1E3D"/>
          </a:solidFill>
          <a:ln w="12700">
            <a:solidFill>
              <a:srgbClr val="E2E5EA"/>
            </a:solidFill>
            <a:prstDash val="solid"/>
          </a:ln>
          <a:effectLst>
            <a:outerShdw sx="100000" sy="100000" kx="0" ky="0" algn="bl" rotWithShape="0" blurRad="127000" dist="38100" dir="5400000">
              <a:srgbClr val="1B2436">
                <a:alpha val="12000"/>
              </a:srgbClr>
            </a:outerShdw>
          </a:effectLst>
        </p:spPr>
      </p:sp>
      <p:sp>
        <p:nvSpPr>
          <p:cNvPr id="33" name="Text 31"/>
          <p:cNvSpPr/>
          <p:nvPr/>
        </p:nvSpPr>
        <p:spPr>
          <a:xfrm>
            <a:off x="9253728" y="4361688"/>
            <a:ext cx="2295144" cy="36576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Not tracked</a:t>
            </a:r>
            <a:endParaRPr lang="en-US" sz="1350" dirty="0"/>
          </a:p>
        </p:txBody>
      </p:sp>
      <p:sp>
        <p:nvSpPr>
          <p:cNvPr id="34" name="Text 32"/>
          <p:cNvSpPr/>
          <p:nvPr/>
        </p:nvSpPr>
        <p:spPr>
          <a:xfrm>
            <a:off x="9253728" y="4754880"/>
            <a:ext cx="2295144" cy="1051560"/>
          </a:xfrm>
          <a:prstGeom prst="rect">
            <a:avLst/>
          </a:prstGeom>
          <a:noFill/>
          <a:ln/>
        </p:spPr>
        <p:txBody>
          <a:bodyPr wrap="square" lIns="0" tIns="0" rIns="0" bIns="0" rtlCol="0" anchor="ctr"/>
          <a:lstStyle/>
          <a:p>
            <a:pPr indent="0" marL="0">
              <a:lnSpc>
                <a:spcPct val="120000"/>
              </a:lnSpc>
              <a:buNone/>
            </a:pPr>
            <a:r>
              <a:rPr lang="en-US" sz="1050" i="1" dirty="0">
                <a:solidFill>
                  <a:srgbClr val="CADCFC"/>
                </a:solidFill>
                <a:latin typeface="Calibri" pitchFamily="34" charset="0"/>
                <a:ea typeface="Calibri" pitchFamily="34" charset="-122"/>
                <a:cs typeface="Calibri" pitchFamily="34" charset="-120"/>
              </a:rPr>
              <a:t>generic “model accuracy” as a primary metric — outcomes only.</a:t>
            </a:r>
            <a:endParaRPr lang="en-US" sz="1050" dirty="0"/>
          </a:p>
        </p:txBody>
      </p:sp>
      <p:sp>
        <p:nvSpPr>
          <p:cNvPr id="35" name="Text 33"/>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36" name="Text 34"/>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E3D"/>
        </a:solidFill>
      </p:bgPr>
    </p:bg>
    <p:spTree>
      <p:nvGrpSpPr>
        <p:cNvPr id="1" name=""/>
        <p:cNvGrpSpPr/>
        <p:nvPr/>
      </p:nvGrpSpPr>
      <p:grpSpPr>
        <a:xfrm>
          <a:off x="0" y="0"/>
          <a:ext cx="0" cy="0"/>
          <a:chOff x="0" y="0"/>
          <a:chExt cx="0" cy="0"/>
        </a:xfrm>
      </p:grpSpPr>
      <p:sp>
        <p:nvSpPr>
          <p:cNvPr id="2" name="Shape 0"/>
          <p:cNvSpPr/>
          <p:nvPr/>
        </p:nvSpPr>
        <p:spPr>
          <a:xfrm>
            <a:off x="-1828800" y="-2286000"/>
            <a:ext cx="5943600" cy="5943600"/>
          </a:xfrm>
          <a:prstGeom prst="ellipse">
            <a:avLst/>
          </a:prstGeom>
          <a:solidFill>
            <a:srgbClr val="132A52"/>
          </a:solidFill>
          <a:ln/>
        </p:spPr>
      </p:sp>
      <p:sp>
        <p:nvSpPr>
          <p:cNvPr id="3" name="Text 1"/>
          <p:cNvSpPr/>
          <p:nvPr/>
        </p:nvSpPr>
        <p:spPr>
          <a:xfrm>
            <a:off x="822960" y="685800"/>
            <a:ext cx="9144000" cy="320040"/>
          </a:xfrm>
          <a:prstGeom prst="rect">
            <a:avLst/>
          </a:prstGeom>
          <a:noFill/>
          <a:ln/>
        </p:spPr>
        <p:txBody>
          <a:bodyPr wrap="square" lIns="0" tIns="0" rIns="0" bIns="0" rtlCol="0" anchor="ctr"/>
          <a:lstStyle/>
          <a:p>
            <a:pPr indent="0" marL="0">
              <a:buNone/>
            </a:pPr>
            <a:r>
              <a:rPr lang="en-US" sz="1200" b="1" spc="200" kern="0" dirty="0">
                <a:solidFill>
                  <a:srgbClr val="2F6FEB"/>
                </a:solidFill>
                <a:latin typeface="Calibri" pitchFamily="34" charset="0"/>
                <a:ea typeface="Calibri" pitchFamily="34" charset="-122"/>
                <a:cs typeface="Calibri" pitchFamily="34" charset="-120"/>
              </a:rPr>
              <a:t>FUTURE VISION</a:t>
            </a:r>
            <a:endParaRPr lang="en-US" sz="1200" dirty="0"/>
          </a:p>
        </p:txBody>
      </p:sp>
      <p:sp>
        <p:nvSpPr>
          <p:cNvPr id="4" name="Text 2"/>
          <p:cNvSpPr/>
          <p:nvPr/>
        </p:nvSpPr>
        <p:spPr>
          <a:xfrm>
            <a:off x="822960" y="1051560"/>
            <a:ext cx="102412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From reactive recovery to a self-governing network</a:t>
            </a:r>
            <a:endParaRPr lang="en-US" sz="3000" dirty="0"/>
          </a:p>
        </p:txBody>
      </p:sp>
      <p:sp>
        <p:nvSpPr>
          <p:cNvPr id="5" name="Text 3"/>
          <p:cNvSpPr/>
          <p:nvPr/>
        </p:nvSpPr>
        <p:spPr>
          <a:xfrm>
            <a:off x="822960" y="2103120"/>
            <a:ext cx="7863840" cy="1554480"/>
          </a:xfrm>
          <a:prstGeom prst="rect">
            <a:avLst/>
          </a:prstGeom>
          <a:noFill/>
          <a:ln/>
        </p:spPr>
        <p:txBody>
          <a:bodyPr wrap="square" lIns="0" tIns="0" rIns="0" bIns="0" rtlCol="0" anchor="ctr"/>
          <a:lstStyle/>
          <a:p>
            <a:pPr indent="0" marL="0">
              <a:lnSpc>
                <a:spcPct val="135000"/>
              </a:lnSpc>
              <a:buNone/>
            </a:pPr>
            <a:r>
              <a:rPr lang="en-US" sz="1450" dirty="0">
                <a:solidFill>
                  <a:srgbClr val="CADCFC"/>
                </a:solidFill>
                <a:latin typeface="Calibri" pitchFamily="34" charset="0"/>
                <a:ea typeface="Calibri" pitchFamily="34" charset="-122"/>
                <a:cs typeface="Calibri" pitchFamily="34" charset="-120"/>
              </a:rPr>
              <a:t>As trust and data volume grow, NEXUS raises the share of decisions it makes autonomously — without ever removing the governance surface that makes autonomy safe to grant in the first place. Every future capability (predictive disruption detection, network-level optimization, expanded autonomy) is layered onto the same audited tool interface this POC already enforces.</a:t>
            </a:r>
            <a:endParaRPr lang="en-US" sz="1450" dirty="0"/>
          </a:p>
        </p:txBody>
      </p:sp>
      <p:sp>
        <p:nvSpPr>
          <p:cNvPr id="6" name="Shape 4"/>
          <p:cNvSpPr/>
          <p:nvPr/>
        </p:nvSpPr>
        <p:spPr>
          <a:xfrm>
            <a:off x="822960" y="4023360"/>
            <a:ext cx="128016" cy="128016"/>
          </a:xfrm>
          <a:prstGeom prst="ellipse">
            <a:avLst/>
          </a:prstGeom>
          <a:solidFill>
            <a:srgbClr val="2F6FEB"/>
          </a:solidFill>
          <a:ln/>
        </p:spPr>
      </p:sp>
      <p:sp>
        <p:nvSpPr>
          <p:cNvPr id="7" name="Text 5"/>
          <p:cNvSpPr/>
          <p:nvPr/>
        </p:nvSpPr>
        <p:spPr>
          <a:xfrm>
            <a:off x="1143000" y="3977640"/>
            <a:ext cx="960120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Agents that perform real operational work, not recommendations left for a human to execute</a:t>
            </a:r>
            <a:endParaRPr lang="en-US" sz="1400" dirty="0"/>
          </a:p>
        </p:txBody>
      </p:sp>
      <p:sp>
        <p:nvSpPr>
          <p:cNvPr id="8" name="Shape 6"/>
          <p:cNvSpPr/>
          <p:nvPr/>
        </p:nvSpPr>
        <p:spPr>
          <a:xfrm>
            <a:off x="822960" y="4590288"/>
            <a:ext cx="128016" cy="128016"/>
          </a:xfrm>
          <a:prstGeom prst="ellipse">
            <a:avLst/>
          </a:prstGeom>
          <a:solidFill>
            <a:srgbClr val="2F6FEB"/>
          </a:solidFill>
          <a:ln/>
        </p:spPr>
      </p:sp>
      <p:sp>
        <p:nvSpPr>
          <p:cNvPr id="9" name="Text 7"/>
          <p:cNvSpPr/>
          <p:nvPr/>
        </p:nvSpPr>
        <p:spPr>
          <a:xfrm>
            <a:off x="1143000" y="4544568"/>
            <a:ext cx="960120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Autonomy that is granted deliberately, per action, and always auditable</a:t>
            </a:r>
            <a:endParaRPr lang="en-US" sz="1400" dirty="0"/>
          </a:p>
        </p:txBody>
      </p:sp>
      <p:sp>
        <p:nvSpPr>
          <p:cNvPr id="10" name="Shape 8"/>
          <p:cNvSpPr/>
          <p:nvPr/>
        </p:nvSpPr>
        <p:spPr>
          <a:xfrm>
            <a:off x="822960" y="5157216"/>
            <a:ext cx="128016" cy="128016"/>
          </a:xfrm>
          <a:prstGeom prst="ellipse">
            <a:avLst/>
          </a:prstGeom>
          <a:solidFill>
            <a:srgbClr val="2F6FEB"/>
          </a:solidFill>
          <a:ln/>
        </p:spPr>
      </p:sp>
      <p:sp>
        <p:nvSpPr>
          <p:cNvPr id="11" name="Text 9"/>
          <p:cNvSpPr/>
          <p:nvPr/>
        </p:nvSpPr>
        <p:spPr>
          <a:xfrm>
            <a:off x="1143000" y="5111496"/>
            <a:ext cx="960120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An architecture where every future integration is a seam, not a rewrite</a:t>
            </a:r>
            <a:endParaRPr lang="en-US" sz="1400" dirty="0"/>
          </a:p>
        </p:txBody>
      </p:sp>
      <p:sp>
        <p:nvSpPr>
          <p:cNvPr id="12" name="Text 10"/>
          <p:cNvSpPr/>
          <p:nvPr/>
        </p:nvSpPr>
        <p:spPr>
          <a:xfrm>
            <a:off x="822960" y="6172200"/>
            <a:ext cx="9601200" cy="365760"/>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Thank you — github.com/fernandogarzaaa/kpmg-nexus-prototype</a:t>
            </a:r>
            <a:endParaRPr lang="en-US" sz="1250" dirty="0"/>
          </a:p>
        </p:txBody>
      </p:sp>
      <p:sp>
        <p:nvSpPr>
          <p:cNvPr id="13" name="Text 11"/>
          <p:cNvSpPr/>
          <p:nvPr/>
        </p:nvSpPr>
        <p:spPr>
          <a:xfrm>
            <a:off x="548640" y="6537960"/>
            <a:ext cx="5486400" cy="27432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NEXUS — Agentic Logistics Platform</a:t>
            </a:r>
            <a:endParaRPr lang="en-US" sz="900" dirty="0"/>
          </a:p>
        </p:txBody>
      </p:sp>
      <p:sp>
        <p:nvSpPr>
          <p:cNvPr id="14" name="Text 12"/>
          <p:cNvSpPr/>
          <p:nvPr/>
        </p:nvSpPr>
        <p:spPr>
          <a:xfrm>
            <a:off x="11338560" y="6537960"/>
            <a:ext cx="365760"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 AI-First Agentic Logistics Platform</dc:title>
  <dc:subject>PptxGenJS Presentation</dc:subject>
  <dc:creator>NEXUS</dc:creator>
  <cp:lastModifiedBy>NEXUS</cp:lastModifiedBy>
  <cp:revision>1</cp:revision>
  <dcterms:created xsi:type="dcterms:W3CDTF">2026-08-21T01:04:34Z</dcterms:created>
  <dcterms:modified xsi:type="dcterms:W3CDTF">2026-08-21T01:04:34Z</dcterms:modified>
</cp:coreProperties>
</file>